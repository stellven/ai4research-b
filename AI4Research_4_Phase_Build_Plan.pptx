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0b8e2ba1fa4249" /><Relationship Type="http://schemas.openxmlformats.org/officeDocument/2006/relationships/extended-properties" Target="/docProps/app.xml" Id="R392b63d03d004126" /><Relationship Type="http://schemas.openxmlformats.org/officeDocument/2006/relationships/officeDocument" Target="/ppt/presentation.xml" Id="R32754d152d104e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766ec13ed64d7a"/>
  </p:sldMasterIdLst>
  <p:notesMasterIdLst>
    <p:notesMasterId xmlns:r="http://schemas.openxmlformats.org/officeDocument/2006/relationships" r:id="Rfef4bea045e642cd"/>
  </p:notesMasterIdLst>
  <p:sldIdLst>
    <p:sldId xmlns:r="http://schemas.openxmlformats.org/officeDocument/2006/relationships" id="256" r:id="Ra90f0b2e7d5d4b73"/>
    <p:sldId xmlns:r="http://schemas.openxmlformats.org/officeDocument/2006/relationships" id="257" r:id="R8db671b3169340b1"/>
    <p:sldId xmlns:r="http://schemas.openxmlformats.org/officeDocument/2006/relationships" id="258" r:id="Rc8247a32127b457c"/>
    <p:sldId xmlns:r="http://schemas.openxmlformats.org/officeDocument/2006/relationships" id="259" r:id="Ra6ce9e17e9724ddc"/>
    <p:sldId xmlns:r="http://schemas.openxmlformats.org/officeDocument/2006/relationships" id="260" r:id="R282f7f8e6b804af3"/>
    <p:sldId xmlns:r="http://schemas.openxmlformats.org/officeDocument/2006/relationships" id="261" r:id="R61bf2434ce984211"/>
    <p:sldId xmlns:r="http://schemas.openxmlformats.org/officeDocument/2006/relationships" id="262" r:id="R9f7ae27d55074057"/>
    <p:sldId xmlns:r="http://schemas.openxmlformats.org/officeDocument/2006/relationships" id="263" r:id="R512645bc5eef4f4a"/>
    <p:sldId xmlns:r="http://schemas.openxmlformats.org/officeDocument/2006/relationships" id="264" r:id="R7090a19024054877"/>
    <p:sldId xmlns:r="http://schemas.openxmlformats.org/officeDocument/2006/relationships" id="265" r:id="Rd66bec914b9a4b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66ec13ed64d7a" /><Relationship Type="http://schemas.openxmlformats.org/officeDocument/2006/relationships/theme" Target="/ppt/theme/theme1.xml" Id="Rbd38f2b63725429e" /><Relationship Type="http://schemas.openxmlformats.org/officeDocument/2006/relationships/notesMaster" Target="/ppt/notesMasters/notesMaster1.xml" Id="Rfef4bea045e642cd" /><Relationship Type="http://schemas.openxmlformats.org/officeDocument/2006/relationships/presProps" Target="/ppt/presProps.xml" Id="R3c217de91a024019" /><Relationship Type="http://schemas.openxmlformats.org/officeDocument/2006/relationships/viewProps" Target="/ppt/viewProps.xml" Id="R25839eaa61b847f4" /><Relationship Type="http://schemas.openxmlformats.org/officeDocument/2006/relationships/tableStyles" Target="/ppt/tableStyles.xml" Id="Rf36438939eea479c" /><Relationship Type="http://schemas.openxmlformats.org/officeDocument/2006/relationships/slide" Target="/ppt/slides/slide1.xml" Id="Ra90f0b2e7d5d4b73" /><Relationship Type="http://schemas.openxmlformats.org/officeDocument/2006/relationships/slide" Target="/ppt/slides/slide2.xml" Id="R8db671b3169340b1" /><Relationship Type="http://schemas.openxmlformats.org/officeDocument/2006/relationships/slide" Target="/ppt/slides/slide3.xml" Id="Rc8247a32127b457c" /><Relationship Type="http://schemas.openxmlformats.org/officeDocument/2006/relationships/slide" Target="/ppt/slides/slide4.xml" Id="Ra6ce9e17e9724ddc" /><Relationship Type="http://schemas.openxmlformats.org/officeDocument/2006/relationships/slide" Target="/ppt/slides/slide5.xml" Id="R282f7f8e6b804af3" /><Relationship Type="http://schemas.openxmlformats.org/officeDocument/2006/relationships/slide" Target="/ppt/slides/slide6.xml" Id="R61bf2434ce984211" /><Relationship Type="http://schemas.openxmlformats.org/officeDocument/2006/relationships/slide" Target="/ppt/slides/slide7.xml" Id="R9f7ae27d55074057" /><Relationship Type="http://schemas.openxmlformats.org/officeDocument/2006/relationships/slide" Target="/ppt/slides/slide8.xml" Id="R512645bc5eef4f4a" /><Relationship Type="http://schemas.openxmlformats.org/officeDocument/2006/relationships/slide" Target="/ppt/slides/slide9.xml" Id="R7090a19024054877" /><Relationship Type="http://schemas.openxmlformats.org/officeDocument/2006/relationships/slide" Target="/ppt/slides/slide10.xml" Id="Rd66bec914b9a4b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a06875a291c4a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61e47ea5054ddf" /><Relationship Type="http://schemas.openxmlformats.org/officeDocument/2006/relationships/notesMaster" Target="/ppt/notesMasters/notesMaster1.xml" Id="Re53c5d99d45647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3abbbd80404dae" /><Relationship Type="http://schemas.openxmlformats.org/officeDocument/2006/relationships/notesMaster" Target="/ppt/notesMasters/notesMaster1.xml" Id="R6fe4847dd77e42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dbf710df8c499d" /><Relationship Type="http://schemas.openxmlformats.org/officeDocument/2006/relationships/notesMaster" Target="/ppt/notesMasters/notesMaster1.xml" Id="Rcf1530fa21ef42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fd8d10df9e42ee" /><Relationship Type="http://schemas.openxmlformats.org/officeDocument/2006/relationships/notesMaster" Target="/ppt/notesMasters/notesMaster1.xml" Id="R3540929ced5a44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a088ef08914b27" /><Relationship Type="http://schemas.openxmlformats.org/officeDocument/2006/relationships/notesMaster" Target="/ppt/notesMasters/notesMaster1.xml" Id="R02fc4275b01341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bef5ff575b4d45" /><Relationship Type="http://schemas.openxmlformats.org/officeDocument/2006/relationships/notesMaster" Target="/ppt/notesMasters/notesMaster1.xml" Id="Rc85c559bf9274d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13675d6d2d4690" /><Relationship Type="http://schemas.openxmlformats.org/officeDocument/2006/relationships/notesMaster" Target="/ppt/notesMasters/notesMaster1.xml" Id="R3ef33acd41fa4f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dfc4abc954441b" /><Relationship Type="http://schemas.openxmlformats.org/officeDocument/2006/relationships/notesMaster" Target="/ppt/notesMasters/notesMaster1.xml" Id="Rb51044ce8d2748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313b5d3b2e4085" /><Relationship Type="http://schemas.openxmlformats.org/officeDocument/2006/relationships/notesMaster" Target="/ppt/notesMasters/notesMaster1.xml" Id="Rc5998d4a1e3244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c894c8438046e7" /><Relationship Type="http://schemas.openxmlformats.org/officeDocument/2006/relationships/notesMaster" Target="/ppt/notesMasters/notesMaster1.xml" Id="Rff1f1a17b45a4c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af3d700f143f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7a367484c5b4944" /><Relationship Type="http://schemas.openxmlformats.org/officeDocument/2006/relationships/slideLayout" Target="/ppt/slideLayouts/slideLayout2.xml" Id="Ra2872979545545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872979545545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a29ae8f2944f9f" /><Relationship Type="http://schemas.openxmlformats.org/officeDocument/2006/relationships/notesSlide" Target="/ppt/notesSlides/notesSlide1.xml" Id="R21144fa7faa44b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42eb1dec684e5c" /><Relationship Type="http://schemas.openxmlformats.org/officeDocument/2006/relationships/notesSlide" Target="/ppt/notesSlides/notesSlide2.xml" Id="Rfeeb31ea7e084b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a9905bbdc84ff6" /><Relationship Type="http://schemas.openxmlformats.org/officeDocument/2006/relationships/notesSlide" Target="/ppt/notesSlides/notesSlide3.xml" Id="Rcf77dfa574af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01fc946b574ddb" /><Relationship Type="http://schemas.openxmlformats.org/officeDocument/2006/relationships/notesSlide" Target="/ppt/notesSlides/notesSlide4.xml" Id="Ra60ac9ba645e4c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96ee7c3a894d5d" /><Relationship Type="http://schemas.openxmlformats.org/officeDocument/2006/relationships/notesSlide" Target="/ppt/notesSlides/notesSlide5.xml" Id="R5f8dcb999f6d42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7e0899dd3a48d0" /><Relationship Type="http://schemas.openxmlformats.org/officeDocument/2006/relationships/notesSlide" Target="/ppt/notesSlides/notesSlide6.xml" Id="Ra7d936e08e3a48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8d2db1229d4032" /><Relationship Type="http://schemas.openxmlformats.org/officeDocument/2006/relationships/notesSlide" Target="/ppt/notesSlides/notesSlide7.xml" Id="R9745b11193c446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eb224687ca49a2" /><Relationship Type="http://schemas.openxmlformats.org/officeDocument/2006/relationships/notesSlide" Target="/ppt/notesSlides/notesSlide8.xml" Id="R2234f2187b6e49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25d631261746bf" /><Relationship Type="http://schemas.openxmlformats.org/officeDocument/2006/relationships/notesSlide" Target="/ppt/notesSlides/notesSlide9.xml" Id="Rb3c354c460e844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0985b67c444138" /><Relationship Type="http://schemas.openxmlformats.org/officeDocument/2006/relationships/notesSlide" Target="/ppt/notesSlides/notesSlide10.xml" Id="Rdf1faa6686dc4e0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02021-C2B1-4020-BFA6-5EFE01EA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374D6-2068-4E22-B276-83DDD444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4FA3E3-455C-4AF9-90BE-98B50F75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64D41E-5875-4A1C-8BD7-F488C3AB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66E95-AA74-45BF-9987-A68169C9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Build the report-to-POC pipeline in four phases.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F07FA-6A6D-4290-8210-5482DE18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Extract POC-worthy solutions, build a POC from them, connect the two parts, then apply whole-pipeline V-model tests and skill safety.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6CAEB-72F0-43F1-A5F6-038B9D96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686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CD333-B72C-4971-9427-CAAF4121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477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C0DDC-DCD4-450D-859B-9219FB76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457325"/>
            <a:ext cx="2095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Each phase keeps testing agents and thought playback active. The main job progresses while humans can inspect AI reasoning, outputs, and test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0D902-08AC-462D-9CF9-FF1578C0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C04E7-A1B5-4501-A0B4-6197A110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333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61F5F-5002-4809-977D-A2AD97C0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28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B7A7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B7A7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19B3D-2DE9-41DD-89F6-77D399D5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B5DBD-8FAC-4E5D-A21C-3617166E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2 wks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A68BA-AF03-4507-A2DA-BBE178F2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1910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29D23-E6D8-4864-BEA4-CAD7244D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191000"/>
            <a:ext cx="2333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5215C-A7AB-4C3A-8B88-F0474897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38650"/>
            <a:ext cx="428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05D8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405D8A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E8776-0989-41FE-88E0-21750DC2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19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Build POC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9F4F7-005F-4F00-81A0-E97D4450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863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2.5 wks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8E198-B23E-481B-B04D-A646A357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910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70914-D82C-4D1C-9F96-62D9B182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91000"/>
            <a:ext cx="2333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8E0B7-5A2A-48AA-818F-9FB8C4CD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38650"/>
            <a:ext cx="428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6E527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6E527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EAB01-201D-4850-8724-BD62291E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19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Integrate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3A37A-DFBC-4A4D-BABB-D6BBC428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2 wks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9882D-65DF-4AEC-B89E-1B667DB9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910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83F1D7-DEEC-49DC-B930-54E32B4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91000"/>
            <a:ext cx="2333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1FC53-24AE-4C2F-850E-772D24EF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38650"/>
            <a:ext cx="428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96C4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96C4A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0ED50-F192-4642-8B89-52DCC066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419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V-model + safety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4E02A-AAA1-4E7E-B673-FEC78534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6863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2.5 wks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8CC491-9201-4A4E-82E2-BA248C66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A68CB5-70B5-4D14-8FA5-5F93F712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80548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6A499-7B45-41FA-AE27-0EF3CB5A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2D5D5-2E80-43FB-BB09-89E3079F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F7A9E2E-9DB3-45AC-8732-ACC7CB0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4C05C13-1F2F-4707-974A-E5301FE8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DBD7E-31F5-42BC-B6D3-58DB3CB0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AI manages the workstream while tests and thought playback run through every phase.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4B23C-432A-4119-AFDF-02446415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The main stream job advances the artifact pipeline. Side rails continuously test outputs and summarize agent reasoning for human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8D92E-BEA1-4693-AA94-F4D317DC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14B67-2211-4036-B2E9-86EB8E6D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489C8-E830-4E9F-9626-5EB6C069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670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C6A35-4739-4E48-8A51-C5540D51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86125"/>
            <a:ext cx="2628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workstream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5C469-E2E3-48B4-ACAE-1D117322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242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extract -&gt; build -&gt; integrate -&gt; system-test -&gt; harden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E975B-2610-41EB-80B9-6355E99E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7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479E3-B369-4A22-9064-DA653E75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C525C-09DC-4E78-9061-C2E42772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7A7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B7A78"/>
                </a:solidFill>
                <a:latin typeface="Aptos"/>
                <a:ea typeface="Aptos"/>
                <a:cs typeface="Aptos"/>
              </a:rPr>
              <a:t>Planner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0C534-CF32-483D-AFEC-92454E7C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plans the next artifact and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37B7C-F601-4C3A-BE56-860ADC28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47875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05D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5E74C-313B-41D5-858F-FEFF0F62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47875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6FC5D-C4F1-4E0D-A79F-A960CAAA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098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Artifact writer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811F9-93CB-49E7-8DA4-885F856D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765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writes visible files and diffs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467A5-911D-48AB-926B-A81BE33E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47875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52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B66E0-342C-4B4D-891A-38CC0F72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47875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24DA2-63A4-4917-9F56-1903B13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E52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E527D"/>
                </a:solidFill>
                <a:latin typeface="Aptos"/>
                <a:ea typeface="Aptos"/>
                <a:cs typeface="Aptos"/>
              </a:rPr>
              <a:t>Critic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72DF2-FD3E-4207-B76F-17E2606D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checks fit against paper claims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86B84-9754-4264-84C9-E9BCFD42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14625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6C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998F2-864B-41E2-943C-D12EF0A4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14625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EC0D9-4737-4373-9824-E370CBF7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765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Safety auditor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E1C92F-7604-4D2C-9121-3A507410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guards skills, tools, and permissions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DA33C-6060-4633-908D-728B2D69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05300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8A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3FF4D-EF21-4623-9652-0F41A704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053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F2A328-279C-4EDD-8F3B-7E7E35C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67225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C8A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C8A5A"/>
                </a:solidFill>
                <a:latin typeface="Aptos"/>
                <a:ea typeface="Aptos"/>
                <a:cs typeface="Aptos"/>
              </a:rPr>
              <a:t>Test designer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CD5097-4587-495E-AA54-02C0736B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33925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runs local and pipeline-level tests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BD9104-4D4B-43DD-8F44-17673A70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05300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68A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108DF6-8257-4095-A136-D78C8CEE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053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2E"/>
          </a:solidFill>
          <a:ln xmlns:a="http://schemas.openxmlformats.org/drawingml/2006/main" w="0">
            <a:solidFill>
              <a:srgbClr val="B68A2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7AA24F-5C78-4156-B7AE-5BFB2BCB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67225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68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8A2E"/>
                </a:solidFill>
                <a:latin typeface="Aptos"/>
                <a:ea typeface="Aptos"/>
                <a:cs typeface="Aptos"/>
              </a:rPr>
              <a:t>Builder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6892A0-285C-4874-9425-3F21F094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33925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builds POC code in small increments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3D3FB0-BC5A-408E-B5A7-CD4CBC81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3105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1B7A7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F1FF09-5AA6-499D-9414-AE703609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065B01-4F13-4513-A534-777C7C1B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B7A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B7A78"/>
                </a:solidFill>
                <a:latin typeface="Aptos"/>
                <a:ea typeface="Aptos"/>
                <a:cs typeface="Aptos"/>
              </a:rPr>
              <a:t>Human control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B9903D-D847-4A2C-A2E6-F22B9A43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review, edit, approve, pause, or override at any phase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42CC4D-BE20-4F3F-8581-D6C97424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76875"/>
            <a:ext cx="3105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405D8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A0F93B-46E8-4E3E-9A18-32DE3AC9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76875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738926-7DF6-4362-A0CD-23386E48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8165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Thought playback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ED766C-3B0A-44B9-B57C-60CFFF75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912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agent reasoning is summarized into inspectable notes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FD936C-B9EA-4562-8CBC-6705DA8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3105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D96C4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616850-43D6-4E89-8F52-717928A5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2325C3-3385-4BB7-8651-DF50E350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8165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Testing side rail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2628A6-FE87-426F-AF24-8E47C962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7912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test agents run after key outputs while the main job progresses</a:t>
            </a:r>
          </a:p>
        </p:txBody>
      </p:sp>
    </p:spTree>
    <p:extLst>
      <p:ext uri="{BB962C8B-B14F-4D97-AF65-F5344CB8AC3E}">
        <p14:creationId xmlns:p14="http://schemas.microsoft.com/office/powerpoint/2010/main" val="3654504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A07473-16CB-4F75-BC32-7CC71087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9AD12-635B-4AFE-BDDA-95C984EE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1BA38B-5BAB-4CED-8218-2A4D803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F858008-3C23-49AE-90DA-2BA1521C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FOUR PHASE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EA0F2-944E-4036-ABF5-1FC60ABA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Build the scoped pipeline in four phases, then validate the whole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7E235-9F3F-4C0F-8955-EF01F244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2 tests the POC itself. Phase 4 applies the V-model to the full extraction-to-validated-POC pipeline.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27523-0355-484C-8826-12194B4A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E87E5-BB0E-403A-9F0D-2D66D7FF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331AC-3C5C-4A8F-B96C-A9606DCF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7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0603F-98C7-4575-959A-AB72035C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69BF1-1DF3-4FC9-A5A7-359C53F6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7A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7A78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826A5-C777-430D-B9A1-6210EC39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76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1.5-2 weeks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52FB4-C0A0-4ADA-BCF5-C04B0756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Solution extraction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B2307-853A-40CC-8244-8164A4A6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84215-22FD-4BD8-9A80-F330DFCA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290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paper claims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5F0BA-A31B-4995-B44A-6A0EBCE3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FFEDB-639D-4E5B-A272-357D88A4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candidate solutions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7BD77-85EA-4278-8BF5-704DEA5A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74D7C-D077-43C9-894A-E18DA00F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624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POC feasibility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BE0A0-70FC-49D0-8A0C-6040DB1E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112C4-1011-4A66-8C5B-C85E92D7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291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9BAAB-4EF9-45A4-81F2-9DD7DE97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48050"/>
            <a:ext cx="219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621D7F-415B-4F82-92AE-AACE15C6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7170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05D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B957B-E827-4561-8290-445B21FA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7170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A22339-9107-46C4-941F-E1D601DF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BBA62-5BC4-4F23-A0B4-A80DC461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2-2.5 weeks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001FA4-4B10-487B-911B-5F9B07C2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09875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POC build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57B135-4752-4ED2-BCF7-BA98FEDF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95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CF6ECD-BBB8-4A8B-B804-70557DC6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290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selected solution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D3792-4C1D-472D-9388-598E1641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762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DC2924-B21F-43D1-BA66-98069FD4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957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POC V-model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3983CA-78B5-4E50-8E94-E3272D9C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029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2B7D92-ACC0-4AE6-94A2-13B5E774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624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21A2C9-8ABE-4884-A109-DEF5152A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295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51C981-C5A7-443C-BA48-54C6C21B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291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41A204-E3C5-4EDC-819E-02E85130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48050"/>
            <a:ext cx="219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D292C5-A1B7-413F-B2A8-658595B2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527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26D9BD-A42B-4E41-A108-AE25DD6F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BB3AFF-E709-4A07-A996-F09CEAB6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52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527D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C66256-BEF2-465A-962F-37238861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2-2.5 weeks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EFBAD5-70AA-4EA9-AFD6-67D94E4F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Pipeline integration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A18E16-57F8-4DB7-AF8A-945B247C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95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439A53-3AD9-4083-8681-D019D66B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4290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handoff contract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E1A205-C616-4AB5-8A85-D9A9A4BA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62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24E41F-4BE6-4C8A-AA2D-85908A05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957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hidden issues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0403BD-71D1-4E75-9423-AD2E1AFE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18FB35-530C-4D13-9BAE-931DF4DA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624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recovery loops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263111-C6B2-4F04-B6BC-61BF0FFC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D7F1C7-40E5-4381-993E-166EA4E0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291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resume flow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2B0E30-CDFB-456D-AD3D-1FEF3063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19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4C0DCB-3C81-497A-AD05-BC84793F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7170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6C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774395-04BC-4A0D-A687-C15C38C3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7170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82F2E4-263A-42E3-861D-8FB07697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765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90D73B-DF0F-4643-A810-3FFF68F1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76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2 weeks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6B769E-E205-47A1-B3B6-4FC5063F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09875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Pipeline V-model + safety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BF8C4B-CAB1-435F-9C94-8E235709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95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221D3F-94FD-434F-8DFB-E64DDE4B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290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system tests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B0BC34-3D88-4E9A-8051-5DE627FA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62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42CA01-2E10-4FB8-B582-77ACB61A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skill checker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235F8F-D569-427A-8026-3ABDBAE7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29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6AF696-0C7F-4A68-8430-78DC9302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624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playback checks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553F53-19C0-4029-8485-615616CA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95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B24817-7B6F-4F59-AE57-534FA855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2910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final gates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13589E-700D-4CC0-BEBB-65E4BAC3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PHASE EXIT RULE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E0A3B5-8EB3-40C8-B985-AB9708CF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24F3C3-D32F-4DAE-8D68-FF15A08E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 phase is done only when tests pass, thought playback is visible, the human gate is recorded, and the next phase can consume its artifacts.</a:t>
            </a:r>
          </a:p>
        </p:txBody>
      </p:sp>
    </p:spTree>
    <p:extLst>
      <p:ext uri="{BB962C8B-B14F-4D97-AF65-F5344CB8AC3E}">
        <p14:creationId xmlns:p14="http://schemas.microsoft.com/office/powerpoint/2010/main" val="17663342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78C27-B9DF-4C55-AD55-43497429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E3012-C72B-42E0-ACBC-0E83B152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C9330F6-FD26-45D7-AB32-4B505AD1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AEA92A6-F8CC-414C-954B-9E481EB9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5B6A5-C086-4562-A447-B47AA3E7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Achieve accurate extraction of possible POC solutions from the paper.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C2DE3-39B0-47DC-9822-280CD4BF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The first risk is misunderstanding the paper. This phase turns claims, assumptions, and proposed methods into testable POC candidates.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7E501-BC7E-4F90-9003-D9F76C51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6B772-D20A-445F-8EAD-833FA114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04CCE-5D4F-4644-808A-CC8C55D8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21F91-BAD4-4D45-874C-5E89AF95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C3390-A205-4EF1-A9A1-D5DF192D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F670E-0595-4EE0-A398-03C2BAEE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B56DC-F535-400E-8110-C63199B6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81225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1.5-2 weeks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81B08-36E9-48E1-885D-A86C5D8C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Extract POC candidates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4F576-4ECE-443F-8485-E69207F8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63F4F-2B39-47F9-8144-0E172410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14675"/>
            <a:ext cx="26003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parse paper claims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3F763-D097-4F33-8293-680582BC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475ED-0877-46F0-89AC-00D37F5E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09950"/>
            <a:ext cx="26003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 possible solutions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15FFD-2057-490A-9265-31519F95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68576-5309-4D85-9A10-8EFA6B5E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05225"/>
            <a:ext cx="26003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map claims to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317E7-09E5-438B-A8DE-7C791C61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67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FAF3BF-9719-4552-8137-5EC1C4E8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00500"/>
            <a:ext cx="26003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rank POC feasibility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F90C6-54CA-49A2-9F2C-E7B873A9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98FBA-1F38-4024-B39F-0D6F195B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95775"/>
            <a:ext cx="26003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summarize agent thought playback for human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89FE9-CDB6-4C60-8CA7-4E29B3BD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DELIVERABLE SHAPE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F3E142-7819-4757-8BAF-E766C286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479A1A-83A9-4FE0-9993-AA18AC11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0BF11E-5A93-499C-9154-DB6FB273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5745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rPr>
              <a:t>paper_analysis.md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961FE5-D982-4909-92FD-D8929AA8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0D1A4B-2690-433E-9633-F0D16761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5745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rPr>
              <a:t>solution_candidates.md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932ACB-9551-4636-96CB-E511ADBC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9EA050-D3A2-46A3-B2A1-9A632045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3370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rPr>
              <a:t>claim_map.md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5DAF61-4D3D-4357-996B-3907158F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88DF13-B35E-4240-9199-5CD4EBFF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93370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rPr>
              <a:t>poc_feasibility_review.md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AE53A0-AB05-448A-820B-54347AC2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337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514CA3-0B8C-4954-BC69-BE7D5A78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0995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rPr>
              <a:t>thought_playback.md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6E10D6-877C-450F-94B4-22DA32EE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FF11FE-39B6-4745-B5FD-0373284D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0995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human_review.md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6D3F22-A83B-464E-9B8B-EE374DFB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AAAFD0-948E-4BDA-A106-5779AF67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8620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rPr>
              <a:t>extraction_tests.md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29A66C-CD9B-48CE-9335-A7A27948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TESTS AND EXIT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B619A9-98D7-43BC-91B4-4AF431D8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952AEF-7950-47E2-AD37-1AAFDF73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781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405D8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393DB9-BA3B-428B-BAED-64E1A841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F12035-41C3-47BA-BBE5-E3FA6758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86025"/>
            <a:ext cx="249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Completeness check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21ADE1-540E-4B3F-8859-266971D0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95575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major paper claims are represented in the extraction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A50425-6814-471F-A22B-CC282DE6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0400"/>
            <a:ext cx="2781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1B7A7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F8A154-1DCB-4D8A-B013-4261F409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04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529D3D-054E-4FA1-9178-BF06012E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05175"/>
            <a:ext cx="249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B7A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B7A78"/>
                </a:solidFill>
                <a:latin typeface="Aptos"/>
                <a:ea typeface="Aptos"/>
                <a:cs typeface="Aptos"/>
              </a:rPr>
              <a:t>Traceability check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A7E335-8433-4EBA-B263-6F3D83D4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14725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each candidate links back to claims, assumptions, and citations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567308-028D-4C14-8CF9-2FB0130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2781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D96C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874780-04E3-4A8B-A4C4-F6A92D16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3E24CD-3BF5-48B7-823B-C44BB21B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24325"/>
            <a:ext cx="249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Hallucination check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67A9C0-B600-4AE8-9988-0197D1CD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33875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unsupported solutions are flagged before the build phase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7B21BB-BEB9-4830-83F7-B8BE60F2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38700"/>
            <a:ext cx="2781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4C8A5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C459A3-4AC9-4E64-B6A0-9DD6A2BD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387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92B16E-0C11-49CD-B89B-D209A24D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43475"/>
            <a:ext cx="249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C8A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C8A5A"/>
                </a:solidFill>
                <a:latin typeface="Aptos"/>
                <a:ea typeface="Aptos"/>
                <a:cs typeface="Aptos"/>
              </a:rPr>
              <a:t>Exit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AC396E-57EC-4B02-931F-BA9EFDC7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53025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 approves a shortlist of POC-worthy solution candidates</a:t>
            </a:r>
          </a:p>
        </p:txBody>
      </p:sp>
    </p:spTree>
    <p:extLst>
      <p:ext uri="{BB962C8B-B14F-4D97-AF65-F5344CB8AC3E}">
        <p14:creationId xmlns:p14="http://schemas.microsoft.com/office/powerpoint/2010/main" val="9393583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CC3205-3089-4B4E-8097-E1B93163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27D10-5A1A-44D4-A44D-FD076D34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63C4A5-047A-41F5-BFFC-1FEA3217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C7B169F-57AA-479A-B666-70BAFD91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F62AA-3C4F-4A23-98FF-AAB4A9E5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Build a successful POC from the selected solution candidate.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69CA0-0377-4651-A6DC-A29F58FB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This phase applies the V-model locally to the POC: requirements map to acceptance tests, design to integration tests, and code to unit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4BFBD-4B2A-4B97-A00C-587D6C1A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F9BAD-D7EB-4474-9CE0-9902E279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B72E4-69B2-4656-9231-174BB45A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B7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799BB-EFF6-4181-8AEC-AF844011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7A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7A78"/>
                </a:solidFill>
                <a:latin typeface="Aptos"/>
                <a:ea typeface="Aptos"/>
                <a:cs typeface="Aptos"/>
              </a:rPr>
              <a:t>solution_candidates.md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AEFC6-D4EA-44EF-AAA2-F4D9FA71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B19A7-61C6-4496-AEDE-2E3FDFBC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57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AE033-7EBD-448D-BBEA-DB62F3C4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05D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B53B8-ACFC-4EFA-8702-B46F1D36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05D8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05D8A"/>
                </a:solidFill>
                <a:latin typeface="Aptos Mono"/>
                <a:ea typeface="Aptos Mono"/>
                <a:cs typeface="Aptos Mono"/>
              </a:rPr>
              <a:t>selected_solution.md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6849B-C6DD-4517-8BF1-428D9913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human approved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9B347-23C1-4A7F-892D-3F324DB2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57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8EF37-D20C-42AB-AFDB-26BE8BD4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E52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EF800-A1EE-4D82-84D6-3889F2BB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poc_scope.md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248A6-F5AD-4CBD-AA80-0BDF4FCE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4317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your side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B374D-4730-4496-8DA0-A6E92AB6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57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3A66F-874C-476C-BDF9-B281FB3A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E52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BE8201-2B9E-439B-94FB-3664690E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requirements.md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D30AB-C034-4610-B6DD-B3390F6B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4317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your side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096B00-5BFC-48FB-B0C5-86CEF2C4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E52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D80ED-16FE-421A-AB90-5E11451C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design.md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DB85C6-94EC-4E8E-8BB8-37ECD6C4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your side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93171B-FA53-4053-BFAC-B2DBF60A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3857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5E9965-8F62-46CA-AC6C-CDF78B6A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147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E52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8DAD0-FE6F-451A-AFC3-DBDF1967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48075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POC code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14996-C2D8-416F-A5EF-14E95B49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243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your side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4B8154-95A2-4F55-845C-6A4E2056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3857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F9AE17-0096-4821-9FE4-F322ED06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147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6C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99489D-4B1B-48F5-8FCD-A5B9B5A9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48075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test_results.md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D37998-B389-49C5-B811-9ACA510C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your side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B526F2-6811-4445-8073-40B52924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3857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1816EA-1299-44A4-B713-81B5C4B2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147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C8A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E54FF9-122F-4680-8B79-17AE7FF6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48075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C8A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C8A5A"/>
                </a:solidFill>
                <a:latin typeface="Aptos Mono"/>
                <a:ea typeface="Aptos Mono"/>
                <a:cs typeface="Aptos Mono"/>
              </a:rPr>
              <a:t>validation_report.md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077A67-B23A-4FB6-8F86-3284A4BA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243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your side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D9FBFA-FBCB-455F-8254-36607A7F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1940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6BAE79-6D47-4774-8537-004DF01E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44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FFD289-742D-46CD-B961-824D6F02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POC-LEVEL V-MODEL TESTS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A4F937-883A-4634-872F-A9BA7D89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8A1CC9-BEAB-46A4-B087-CE7969E1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C0936E-A1B5-475A-BB44-BBC41CF8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86375"/>
            <a:ext cx="4410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requirements -&gt; acceptance tests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CEFF44-0720-4904-A40F-10135A1D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6A1EB6-0E46-48E5-BF2E-BE87D62F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553075"/>
            <a:ext cx="4410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design -&gt; integration tests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B331B0-B454-4C9D-B80A-578EB9A6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3D04FE-2558-4E25-BB0A-79B6D359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819775"/>
            <a:ext cx="4410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code -&gt; unit tests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1D167B-2772-422F-A693-4FFCC827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53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593DD1-1A00-4988-9E49-E77808CA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286375"/>
            <a:ext cx="4791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test agent runs after key implementation steps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A57BF8-E2F5-4F14-8A7A-B53AD877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19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639D7A-0603-4242-9359-5BFBCA8E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553075"/>
            <a:ext cx="4791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validation compares POC behavior to the selected claim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AE13BC-DA09-4D09-BB1C-F2F0DC67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86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03E63A-C137-4BCF-ABDB-821EE995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819775"/>
            <a:ext cx="4791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thought playback explains build decisions to humans</a:t>
            </a:r>
          </a:p>
        </p:txBody>
      </p:sp>
    </p:spTree>
    <p:extLst>
      <p:ext uri="{BB962C8B-B14F-4D97-AF65-F5344CB8AC3E}">
        <p14:creationId xmlns:p14="http://schemas.microsoft.com/office/powerpoint/2010/main" val="1702946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9646FD-0703-49A7-90D5-6C42E131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2F9E2-0486-42DE-B0C2-8B8BFD85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1D67911-EEDB-42CB-A1F9-C4872FA4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9AFDC2-CE53-44FD-A770-E4CB61ED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78B47-51D4-4AE4-9B17-61B1A365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Connect extraction and POC build, then expose hidden integration issues.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4E7CB-EAD2-4BE5-9B56-2B3FE8B1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This phase proves the two parts work together and focuses on handoff failures, ambiguity, state recovery, and human intervention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4EA5D-56FD-40A5-9DFB-7EA81F81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A54AE-1B64-4638-BC89-D2CCB48E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1E5CD-972F-47F5-8C62-1881CA8B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88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52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BF8A1-574F-4F0F-997A-F5C71450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E527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E527D"/>
                </a:solidFill>
                <a:latin typeface="Aptos Display"/>
                <a:ea typeface="Aptos Display"/>
                <a:cs typeface="Aptos Display"/>
              </a:rPr>
              <a:t>Integration focus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DAC04-57D2-48C1-B5A7-E073F956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99326-D398-4F6C-AEBE-D9F6B688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handoff_contract.md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F3898-D4B0-4A44-ABC1-7F4BE64A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384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E4288-8917-4AD2-AF56-0DFBEC01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pipeline_run_log.md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F2887-EEEE-4355-8F7D-9430A076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3DE5A-5248-42F0-90D1-5E172ABB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failure_modes.md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853E4-84AA-4590-9ECE-D331DDCA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337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447C1-6B26-4188-831A-CB0A540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0995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integration_review.md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286CE-9776-406F-939A-EA582D50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0B735-196B-4F93-ADC3-E563C788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human_resume_tests.md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87F8F-B342-46D4-AA1C-4B8AB75C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290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4E13E-B5E2-4DCE-9E25-E213D3CE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0525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thought_playback.md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140CED-4EB6-40C8-B64D-53038284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B8EAEF-E795-4E5C-80E7-FB8E2E3E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504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recovery_plan.md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7133AE-EF1C-4217-9936-B0F50E67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76450"/>
            <a:ext cx="2952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F06C9-918A-438A-8BAB-D8E8912D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Hidden issue routing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836C8-DF5A-4159-A888-2B595A8A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D17FD-5EB1-4097-B2E6-98495BD3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5275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full run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003DE-039B-4B24-953E-D9AD1741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62300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C98237-1896-4BE4-AA11-5259D158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432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885BBD-11D8-48CF-B5F9-2A869BB1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004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 issue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51F6B0-A7D3-422E-BD05-14E3CA94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09975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DBAB0-603F-40A0-9296-D6570031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90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2E"/>
          </a:solidFill>
          <a:ln xmlns:a="http://schemas.openxmlformats.org/drawingml/2006/main" w="0">
            <a:solidFill>
              <a:srgbClr val="B68A2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4ADE63-2286-4072-8271-70368234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481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revise contract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4C2AEC-B308-46F4-914D-D412A647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57650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BD5F77-0D0A-42D0-90C2-DAA21B8B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F17048-5C35-4909-AD38-6359A60B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957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resume pipeline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058A37-D3D7-4D13-9C6E-C417465D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05325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86690F-6BBB-4359-A0C8-A5037C08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863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EF276C-AC1C-4573-9F1C-3FB298C5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4345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rerun tests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BDB60B-E906-4903-AC5E-0D4922D0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764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TESTS AND EXIT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FB784C-8693-4794-9E7D-D56A1205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1457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057C94-6EFC-43F1-B5CE-429645B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24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03EC81-17AA-4D72-9953-BB4EAF1A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26003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full paper-to-POC run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67BE27-6529-45A7-954B-75E5DC00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38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F6BE97-5542-4717-8F0E-CD0F3C70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26003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ambiguous solution handoff test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926178-5142-4A05-9324-399FC338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52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097C53-F632-4DBC-A55D-7AAFC79D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86100"/>
            <a:ext cx="26003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failed build recovery test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07339E-2ACD-47AA-8A6F-23AF7355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67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273E59-83B1-4EC0-BF7E-062030EF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0425"/>
            <a:ext cx="26003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 edit and resume test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A51205-08E0-478B-9B69-B719212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238CCF-BB21-4A72-A1C0-E00A11CE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26003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thought playback completeness check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C4ECE6-E5E9-4565-8DB3-35A49E99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10125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4C8A5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7E052E-7F13-41E0-8506-6035D74C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10125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D936E0-3C20-42A3-87B5-CD7A94AD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149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C8A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C8A5A"/>
                </a:solidFill>
                <a:latin typeface="Aptos"/>
                <a:ea typeface="Aptos"/>
                <a:cs typeface="Aptos"/>
              </a:rPr>
              <a:t>Exit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EC8F9F-D1D2-4FB5-8F51-8FDBC106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1244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extraction output reliably feeds POC build without hidden context</a:t>
            </a:r>
          </a:p>
        </p:txBody>
      </p:sp>
    </p:spTree>
    <p:extLst>
      <p:ext uri="{BB962C8B-B14F-4D97-AF65-F5344CB8AC3E}">
        <p14:creationId xmlns:p14="http://schemas.microsoft.com/office/powerpoint/2010/main" val="3505337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E218FD-4F77-4C39-8C7D-A23B0B0B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39BAB-2038-4F62-A4DC-85C042EE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DE1AEF-9772-4090-A395-E711B530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BDE0D24-AB78-4862-9491-89417371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F19AD-D5B2-443D-B81A-F9CE2AF2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Apply the V-model to the entire pipeline and implement skill safety checking.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CB937-0EAB-48CF-8C4D-92D42EAF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4 validates AI4Research as a system, not just one POC. It checks pipeline requirements, pipeline design, modules, skills, and human visibility.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2C0C1-F8DE-46F1-BD4A-7D1E4B9A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0E141-6D13-4450-A4F4-28731F5C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9884D-038C-49A0-8B7B-57A1F21A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05D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D4F65-A043-45D8-838A-B82580D0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2B981-CFA1-414C-9DED-355A0C7B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57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Pipeline acceptance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2F689-16F3-46DA-9C27-BC989CDF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767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report to validated POC, with human gates and visible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F07C7-2F3F-4175-91C0-4CB441C0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339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50CEE-FDAD-4FA2-86CF-4087A703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6720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7A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FAD36-B4B1-428B-B1D6-E8F13474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6720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71A0C-3A19-4C46-97B7-FBE6952A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57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7A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7A78"/>
                </a:solidFill>
                <a:latin typeface="Aptos"/>
                <a:ea typeface="Aptos"/>
                <a:cs typeface="Aptos"/>
              </a:rPr>
              <a:t>Pipeline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050B6-659E-472B-9FD9-B6689B11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767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extraction, selection, build, tests, review, and resume flow together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92883-8F98-4DAE-A88B-EB755127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339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C0918-DAF1-42A3-96A8-1FAF5F98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527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F58F7-5648-4D2F-B663-2BDF4098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561E0-CAB4-48B5-9A95-A2B5B77B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57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52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527D"/>
                </a:solidFill>
                <a:latin typeface="Aptos"/>
                <a:ea typeface="Aptos"/>
                <a:cs typeface="Aptos"/>
              </a:rPr>
              <a:t>Pipeline modules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6B5864-8BD9-4FE7-ACE0-26A30636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767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extractor, validator, builder, test agent, playback summarizer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B87047-2B81-4289-9D16-DA904823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339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E0FFE-1DDC-4BF5-AE68-9C97CD63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68A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34F34-61F5-46FA-90C8-925396B5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2E"/>
          </a:solidFill>
          <a:ln xmlns:a="http://schemas.openxmlformats.org/drawingml/2006/main" w="0">
            <a:solidFill>
              <a:srgbClr val="B68A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7F688-30FC-4CFE-A33D-062637E4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57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68A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68A2E"/>
                </a:solidFill>
                <a:latin typeface="Aptos"/>
                <a:ea typeface="Aptos"/>
                <a:cs typeface="Aptos"/>
              </a:rPr>
              <a:t>Skill safety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9A8F94-7C95-4711-9FF1-99AA16EB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767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manifest, permissions, tool side effects, and tests checked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9D3904-83CF-4AF4-9D5C-0A220EF1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339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2E"/>
          </a:solidFill>
          <a:ln xmlns:a="http://schemas.openxmlformats.org/drawingml/2006/main" w="0">
            <a:solidFill>
              <a:srgbClr val="B68A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1CF2A2-8935-4CD4-A034-C13E567A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6C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7FB81-7FE5-4556-A6F2-8F017421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311AC6-9D93-4CD2-A9F5-4212BFBF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57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Thought playback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C38838-9CA0-4CF5-8E54-D27A5DA8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767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human-readable summaries preserved at each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57A3F2-ADF5-47BF-A46A-D3A5444A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339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399D97-6F4D-4B21-B6E9-89E33707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6720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8A5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1DED48-88F4-4241-9260-B15E0200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6720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FD60AE-9F49-4CEF-A988-575ED074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457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C8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C8A5A"/>
                </a:solidFill>
                <a:latin typeface="Aptos"/>
                <a:ea typeface="Aptos"/>
                <a:cs typeface="Aptos"/>
              </a:rPr>
              <a:t>Final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280E8E-B53B-4A9E-BCCB-4391002A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6767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accept, revise, or reject the pipeline with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B02244-0407-42AB-8F7F-69B0B57D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BUILD ADDITIONS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2B7471-FB26-48B8-82D2-46E5F88B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478413-AD38-44B2-B44D-3996A016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A498D1-15A1-4E8F-90F7-60962C31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43150"/>
            <a:ext cx="38385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pipeline-level V-model harness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06E82A-D9BF-46B8-9A3B-650281D7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38414E-2D87-4CCD-BA12-5594F05A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38385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skill safety checker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DF7A93-7994-46A6-8898-18923681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E07415-E4BD-425A-9789-41E015FF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33700"/>
            <a:ext cx="38385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agent playback verifier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C2BF15-D850-47BB-ADDA-F1424942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B37D55-B171-47ED-8DCD-8BB3638B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28975"/>
            <a:ext cx="38385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system acceptance suite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663590-04CF-4C75-B914-D2E669C3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C8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8A5A"/>
                </a:solidFill>
                <a:latin typeface="Aptos"/>
                <a:ea typeface="Aptos"/>
                <a:cs typeface="Aptos"/>
              </a:rPr>
              <a:t>EXIT CRITERIA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1DD038-4174-4A36-90BD-9E55F572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027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FF510D-6BFC-4345-89E3-03CB52E1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9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3E7362-BEC8-4720-80B0-43124FC7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43150"/>
            <a:ext cx="3267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pipeline acceptance tests pass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0B0DA0-AAFC-42DB-B4DF-D35A9EB0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2DF554-4294-4E4F-9400-C7DA9F1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38425"/>
            <a:ext cx="3267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integration handoffs are verified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F6826B-10AF-47D0-AA90-BEED3455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EFF28B-A82E-4038-B5D4-14403D4A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933700"/>
            <a:ext cx="3267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unsafe skills are blocked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C80CD8-386A-4F66-BB5E-50E7ABA0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95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F9B7EE6-D40A-4BE0-9054-4C50F39C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228975"/>
            <a:ext cx="3267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 playback and approvals are recorded</a:t>
            </a:r>
          </a:p>
        </p:txBody>
      </p:sp>
    </p:spTree>
    <p:extLst>
      <p:ext uri="{BB962C8B-B14F-4D97-AF65-F5344CB8AC3E}">
        <p14:creationId xmlns:p14="http://schemas.microsoft.com/office/powerpoint/2010/main" val="16529850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57EB71-D017-4457-BCEC-AC66364B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BF6F7-040C-4D3A-AB01-32AEB687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6BC8011-56D1-435B-9A2A-73763361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2E"/>
          </a:solidFill>
          <a:ln xmlns:a="http://schemas.openxmlformats.org/drawingml/2006/main" w="0">
            <a:solidFill>
              <a:srgbClr val="B68A2E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C431ED-AEDA-44E8-89A8-6CC4150F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CROSS-PHASE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375EE-0E1C-4118-827A-9A316AF5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Human intervention, visible AI outputs, testing agents, thought playback, and skill safety run across every phase.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8B1F6-B8DD-4CE0-94FA-08FBD07E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The main stream job moves forward, while side rails continuously test, audit, and make agent reasoning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7CCF8-B278-482C-B049-95AF14BE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D208C-6D06-46BF-9E4D-85AF7F96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413BF-3303-4503-9ED2-87C24263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025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DDF63-9D9C-40B3-A633-8DCD657C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478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C0A71-257F-422F-A510-125B4A38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0025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7C657-BF8F-4FEA-933B-E5CF88C1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0478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Visible AI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7707D-9BAD-4931-B397-B47C63E6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BA4F0-7E03-4B49-AAF8-698E4469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478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Testing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D0566-481B-4641-A5EF-7C913E3B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0025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BFF34-1738-43C9-89DA-0DE55EEB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478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Thought + safety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84BC2-61CA-48E2-B65B-706D9C1E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7A7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B7A78"/>
                </a:solidFill>
                <a:latin typeface="Aptos Display"/>
                <a:ea typeface="Aptos Display"/>
                <a:cs typeface="Aptos Display"/>
              </a:rPr>
              <a:t>Phase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D7F7E-6066-4F3E-9E7D-93857F81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003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7B238-83B5-44CB-B95C-2E3480A3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765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C4769-10CB-4E57-B9C0-EE96145B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03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approve candidate shortlist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60670-AEA7-4307-9C18-F6E9C01A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765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B46AA-F96C-43A8-9303-406443E4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003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analysis + candidates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D6795-58AB-419D-B01B-2791E018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4EB0E-9DD0-4189-97E7-274FE767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03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extraction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859812-59E1-4DF7-B31A-CC448968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765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D0ADAB-9702-4E2B-9BCD-7BBB1CF2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003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claim trace playback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8536F-4B6B-4E16-817A-85518D8E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05D8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405D8A"/>
                </a:solidFill>
                <a:latin typeface="Aptos Display"/>
                <a:ea typeface="Aptos Display"/>
                <a:cs typeface="Aptos Display"/>
              </a:rPr>
              <a:t>Phase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894753-124E-49A7-ACEF-E4772197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242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0">
            <a:solidFill>
              <a:srgbClr val="405D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DEA2FB-27F7-4D6F-AF65-8D4F20D4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04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B9DD14-8F55-427F-95FA-44747B75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242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approve selected solution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235796-5CE6-4F4D-B97B-EF591E7A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004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232C17-08A4-48B5-987F-CE7270FB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3242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design + POC diffs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6BF690-9F5C-4CAB-A7CE-C37D522E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063D36-D7E5-4F19-B6FE-DDF23B47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242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POC V-model 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15F1FF-5B8F-4084-A403-80C0D491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004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48A6B4-F8FD-4C4E-B6B7-7124BC66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242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build thought playback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31F29B-6837-4B4B-97D1-24054873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E527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E527D"/>
                </a:solidFill>
                <a:latin typeface="Aptos Display"/>
                <a:ea typeface="Aptos Display"/>
                <a:cs typeface="Aptos Display"/>
              </a:rPr>
              <a:t>Phase 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218CC5-8E42-48CF-81E9-6F06AF3F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481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0">
            <a:solidFill>
              <a:srgbClr val="6E527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D5E82E-A467-4CED-9E18-0DC9DDC5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243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1EEB77-A0FE-4C85-96EA-435EAD17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481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approve handoff fixes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F0DFEA-6CB1-4087-94CA-41B550DB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243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B1EE25-48C7-4CDB-8F53-68A628B4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0481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run logs + failures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E4E0A4-6C28-4E71-8689-25577D4C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3D53A9-6690-4F25-9FD7-63D120E5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481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integration tests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F293CC-0BBE-426F-B876-5C68D14F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243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A51B41-6AB5-4535-A4B2-895B9C24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481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resume and issue playback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E72D5E-3381-464E-AAF9-97DDEA42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6C4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96C4A"/>
                </a:solidFill>
                <a:latin typeface="Aptos Display"/>
                <a:ea typeface="Aptos Display"/>
                <a:cs typeface="Aptos Display"/>
              </a:rPr>
              <a:t>Phase 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BE13B8-BA9B-4919-B881-F86C82E3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E030F6-71C9-42BF-AE05-A3CB60BA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482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B222DB-BC83-4D89-8063-3518E3FF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720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accept / revise / reject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CAB921-32CD-4FA4-AD89-C3CE9B75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482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A62E31-3D40-41AF-8A65-64AED3F1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7720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pipeline evidence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F50ADA-C274-4F22-85FD-1808B0CD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482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7E079C-33A3-4E39-B3D6-B5A19AD6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720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system V-model tests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F397A1-C8E9-4FD9-AA31-F9AB2233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482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A21395-D759-4404-BA0A-26D1C419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772025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skill safety audit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D72FDB-8F92-49D6-95B3-20D804B9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D96C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2808AD-4CF1-4949-B3C4-87548CA1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4D99A3-F0AD-4096-A221-CC36CD04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19775"/>
            <a:ext cx="866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Invariant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E8E26B-4466-4DB6-ACEB-43C69BA4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029325"/>
            <a:ext cx="866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Testing agents and thought playback are not separate final tasks. They operate continuously as the main workflow progresses.</a:t>
            </a:r>
          </a:p>
        </p:txBody>
      </p:sp>
    </p:spTree>
    <p:extLst>
      <p:ext uri="{BB962C8B-B14F-4D97-AF65-F5344CB8AC3E}">
        <p14:creationId xmlns:p14="http://schemas.microsoft.com/office/powerpoint/2010/main" val="16254390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CFAFCD-2025-4005-AD0F-0DA0AD3F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7CF10-D938-450E-A18E-F89A22C3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8FDE3BA-46D9-40C8-B9AF-F9E0A26F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E938472-DE87-45BF-84BA-1DBA6843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OWNERSHIP 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B5CA7-FEC2-416A-8C8B-8B40A92C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Your responsibility is the research-report-to-validated-POC pipeline.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06DCE-A193-436F-BB07-70CCA956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The handoff from your colleague is the research report. Your pipeline extracts possible solutions, builds a POC, integrates the flow, and validates the whole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C3074-D77E-47C5-AA08-278D1BB5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17FE1-BC3F-4CF6-84B7-48B4A897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EE2EA-E3BB-4EDA-ACA6-38D6ABD5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7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01E72-3271-4905-BBA5-CEBA851D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BE0E2-8B56-4D49-B55F-03425DD4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colleague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C2D73-11FB-4E1C-A21C-0DE1CA6A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Topic to research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6BF49-586B-437F-BCF9-BFCB68E2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334FE-341C-4353-B34D-B5DE39F9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76625"/>
            <a:ext cx="2181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topic intake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EBCBE-EC89-4D1D-B048-F1F3729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49F32-2349-4F85-ACA1-BCFE542B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733800"/>
            <a:ext cx="2181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technology scan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9E5F2-D722-4030-ABF4-598EEF19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972EB-D607-401F-AF6C-04C2A25C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990975"/>
            <a:ext cx="2181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research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9370C-A1F6-4482-AFB4-03C11F8C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14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8A744-08B0-441E-B97A-A2A0D051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48150"/>
            <a:ext cx="2181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citations and claims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D51F0-46AA-45D9-8F58-7FD3C2F5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3124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E7A09-B63E-4653-9123-0066DCA3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812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research_report.md contract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B55FE-8E73-4862-8C97-EFF033E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7655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9525">
            <a:solidFill>
              <a:srgbClr val="1B7A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076435-7FC0-4069-B094-26085A4E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718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83782-C0A9-41A5-8D57-C393C34B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9525">
            <a:solidFill>
              <a:srgbClr val="405D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2DA8E4-838E-4A18-BBC3-B1CF4C45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proposed solutions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4700AA-2F7F-4984-B1B4-A64C594D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2900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27D"/>
          </a:solidFill>
          <a:ln xmlns:a="http://schemas.openxmlformats.org/drawingml/2006/main" w="9525">
            <a:solidFill>
              <a:srgbClr val="6E527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029A8-CCEC-4C34-B33B-23115AF9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2425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F675A1-7186-4CC8-8B48-949A60B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9525">
            <a:solidFill>
              <a:srgbClr val="D96C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CCD688-8DE3-45EE-A7FC-B100A722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assumptions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A223E4-0A55-484C-B435-1525CE90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8145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9525">
            <a:solidFill>
              <a:srgbClr val="1B7A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0A0FD0-F9F7-411A-8B3F-A77F8695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767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target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B55448-79AA-4A68-8F21-171FF3D0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D8A"/>
          </a:solidFill>
          <a:ln xmlns:a="http://schemas.openxmlformats.org/drawingml/2006/main" w="9525">
            <a:solidFill>
              <a:srgbClr val="405D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BF62E3-003C-455B-BD02-941BB467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cited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40BCBD-9050-4C18-9433-8E27469E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6C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7B6B1F-2B08-493A-A30B-BB836B57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240756-256F-449B-A9AD-F02FB45D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288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you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9B5A80-9409-4ADB-AB55-76531B9F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Report to validated POC pipeline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1456E3-AC67-4CEF-9465-CD1D07AB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43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974FE2-097B-46EF-AFDD-A4D3332C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76625"/>
            <a:ext cx="2181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candidate extraction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C38052-66BD-46BB-AF83-D1194F4E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00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059AD6-8094-4825-8A83-1918873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733800"/>
            <a:ext cx="2181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POC build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AB0065-A49B-4D05-867A-027A7F5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57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761F6C-B861-47B8-B1C5-2F67FCBB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990975"/>
            <a:ext cx="2181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pipeline integration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E2DC3D-6A82-4B75-B457-40F1DEE3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14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D38777-7F0D-4D8F-A94B-79590B06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248150"/>
            <a:ext cx="2181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system V-model + safety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E6FE7E-2254-438E-B4C0-097EE3C7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29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78"/>
          </a:solidFill>
          <a:ln xmlns:a="http://schemas.openxmlformats.org/drawingml/2006/main" w="0">
            <a:solidFill>
              <a:srgbClr val="1B7A7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E4E3B1-6452-4B35-AB8E-57780AC5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63237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A9E3E5-D198-4B82-A0A5-DD3CE917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85AA9-BB10-428F-9172-D9AE0FC1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E9CEE04-6E1A-4BCB-A857-F3FD30F5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917696-D20D-4996-8CA9-807E651C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FINAL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97879-D16E-40C7-8788-3FB61F6F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Success means the pipeline can prove both POC correctness and system reliability.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6C0FD-40EF-4373-A622-0094210F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2 validates the generated POC. Phase 4 validates the full extraction-to-build pipeline, including skill safety and human-readable agent playback.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C466C-36C2-4B62-9C68-92F39E1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DD319-8100-4CA6-B1B1-A721A0E6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56B23-F384-45F5-8B7F-603BEA2D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524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05D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0F863-58C6-4D43-B16C-FB34084B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05D8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05D8A"/>
                </a:solidFill>
                <a:latin typeface="Aptos Display"/>
                <a:ea typeface="Aptos Display"/>
                <a:cs typeface="Aptos Display"/>
              </a:rPr>
              <a:t>Final run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6C6DB-DB3C-4E17-A79D-1B762638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4B0A8-1148-423E-8C30-F5BD646E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1295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paper_analysis.md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04CFE-BBFB-447B-8E07-8346AFA6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BEA91-C525-4150-96EE-CC706C52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71800"/>
            <a:ext cx="1295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solution_candidates.md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E0B5E-A0B6-4B49-8288-73F29017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23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96E6A-144E-42C8-B9E4-C943EA55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1295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requirements.md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948CD-A92A-49B4-AFEA-BB32E34B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623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2EB0A-43EA-4159-B8C1-3CC879B2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38525"/>
            <a:ext cx="1295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design.md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67687-DC4E-4C0B-B59E-B9A7E4C5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2E7B68-49C3-422D-82A9-11CE6929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295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poc_test_results.md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6797A-3B8D-4F02-AE95-1A8F1134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290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DA033-5C43-4A27-B4E4-29B116B1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05250"/>
            <a:ext cx="1295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rPr>
              <a:t>pipeline_v_model.md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15683-8FA0-476C-818B-98BCF826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957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7717E-8DF1-45F6-B503-4B66CDB6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71975"/>
            <a:ext cx="1295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rPr>
              <a:t>skill_audit_report.md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6BB3C-D6E5-4CF7-99EB-EAB4136A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957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99E65-EB33-45BF-AF37-42609087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71975"/>
            <a:ext cx="1295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rPr>
              <a:t>thought_playback.md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205DAB-542B-4998-B5E6-04FAF328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95500"/>
            <a:ext cx="2686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71CA66-1DC3-4D84-A84F-D2EA5626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Decision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D9D62A-94D3-4F0A-966F-ABD55B94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9525">
            <a:solidFill>
              <a:srgbClr val="4C8A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6F701-2CBF-40D4-AC9C-F5E7B8C4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76575"/>
            <a:ext cx="1733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64FA66-16E2-4D9F-9C16-AA30C7DA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67075"/>
            <a:ext cx="1733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POC and pipeline evidence support the claim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8ABB0D-2991-472B-BBC2-56AD173C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766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2E"/>
          </a:solidFill>
          <a:ln xmlns:a="http://schemas.openxmlformats.org/drawingml/2006/main" w="9525">
            <a:solidFill>
              <a:srgbClr val="B68A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808A20-2A7D-4D5C-8E28-CAA51E03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43325"/>
            <a:ext cx="1733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01167D-D0F3-4AB3-B88F-91C7493C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33825"/>
            <a:ext cx="1733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candidate, POC, handoff, or safety layer needs another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22E7A4-13FA-4BA2-892D-43732109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434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B"/>
          </a:solidFill>
          <a:ln xmlns:a="http://schemas.openxmlformats.org/drawingml/2006/main" w="9525">
            <a:solidFill>
              <a:srgbClr val="B84B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32DC08-4969-41A0-9F67-5E0D482D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10075"/>
            <a:ext cx="1733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reject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5E0852-48C2-4425-951A-9CFB3EBE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00575"/>
            <a:ext cx="1733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POC fails or pipeline is unreliable / unsafe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1005DE-C8DD-4F87-80F8-06B74B5B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NORTH-STAR CHECK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FFCC1F-727F-4F2A-A4C6-A5C1700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85DD65-C985-459A-A81D-A248D81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4579D3-507D-4708-BF1A-F7B1AB3B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476500"/>
            <a:ext cx="2790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solutions were extracted accurately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260B31-41B9-47B4-B61D-EC3B9215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67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3DD7EF-4F18-42CD-99B4-9504F0DB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00350"/>
            <a:ext cx="2790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POC-level V-model tests passed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1D12A3-C63A-4B81-9E66-617283C7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772C9B-D0E2-49E1-B50F-63BD114C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24200"/>
            <a:ext cx="2790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pipeline-level V-model tests passed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64EF86-2D10-40AE-8F80-F5F4DE7D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14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6061C0-47C2-4F2E-90B8-18A4B7BD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48050"/>
            <a:ext cx="2790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thought playback was visible at every phase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0607E1-5AF7-49AF-B364-24FB7464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38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36AE04-7BD0-4A16-A71E-4E32E7C7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71900"/>
            <a:ext cx="2790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skill safety checker blocked unsafe usage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6798D1-D941-4EC0-84F3-48E3B98B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9525">
            <a:solidFill>
              <a:srgbClr val="4C8A5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566EB3-9745-4712-91D8-58DD2082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D5ACB0-36DA-43CE-AEC5-856AB8FE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482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C8A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C8A5A"/>
                </a:solidFill>
                <a:latin typeface="Aptos"/>
                <a:ea typeface="Aptos"/>
                <a:cs typeface="Aptos"/>
              </a:rPr>
              <a:t>Mature outcome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A90337-7EE5-4517-A78B-FF8A1846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578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validated POC plus a tested, inspectable, and safer pipeline</a:t>
            </a:r>
          </a:p>
        </p:txBody>
      </p:sp>
    </p:spTree>
    <p:extLst>
      <p:ext uri="{BB962C8B-B14F-4D97-AF65-F5344CB8AC3E}">
        <p14:creationId xmlns:p14="http://schemas.microsoft.com/office/powerpoint/2010/main" val="104027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2026-05-27T18:50:09.8100000Z</dcterms:created>
  <dcterms:modified xsi:type="dcterms:W3CDTF">2026-05-27T18:50:09.8100000Z</dcterms:modified>
</coreProperties>
</file>