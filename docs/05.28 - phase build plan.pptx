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AF02021-C2B1-4020-BFA6-5EFE01EAC51E}"/>
              </a:ext>
            </a:extLst>
          </p:cNvPr>
          <p:cNvSpPr>
            <a:spLocks noGrp="1"/>
          </p:cNvSpPr>
          <p:nvPr/>
        </p:nvSpPr>
        <p:spPr>
          <a:xfrm>
            <a:off x="0" y="273567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374D6-2068-4E22-B276-83DDD44432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04FA3E3-455C-4AF9-90BE-98B50F7518F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8564D41E-5875-4A1C-8BD7-F488C3ABC8A9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166E95-AA74-45BF-9987-A68169C9438B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52475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0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Build the report-to-POC pipeline in four phases.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F07FA-6A6D-4290-8210-5482DE184DFD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6858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Extract POC-worthy solutions, build a POC from them, connect the two parts, then apply whole-pipeline V-model tests and skill safety.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06CAEB-72F0-43F1-A5F6-038B9D9651AF}"/>
              </a:ext>
            </a:extLst>
          </p:cNvPr>
          <p:cNvSpPr>
            <a:spLocks noGrp="1"/>
          </p:cNvSpPr>
          <p:nvPr/>
        </p:nvSpPr>
        <p:spPr>
          <a:xfrm>
            <a:off x="8286750" y="742950"/>
            <a:ext cx="2686050" cy="2952750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6CD333-B72C-4971-9427-CAAF41213D6D}"/>
              </a:ext>
            </a:extLst>
          </p:cNvPr>
          <p:cNvSpPr>
            <a:spLocks noGrp="1"/>
          </p:cNvSpPr>
          <p:nvPr/>
        </p:nvSpPr>
        <p:spPr>
          <a:xfrm>
            <a:off x="8553450" y="104775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rule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CC0DDC-DCD4-450D-859B-9219FB7665F0}"/>
              </a:ext>
            </a:extLst>
          </p:cNvPr>
          <p:cNvSpPr>
            <a:spLocks noGrp="1"/>
          </p:cNvSpPr>
          <p:nvPr/>
        </p:nvSpPr>
        <p:spPr>
          <a:xfrm>
            <a:off x="8553450" y="1457325"/>
            <a:ext cx="209550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Each phase keeps testing agents and thought playback active. The main job progresses while humans can inspect AI reasoning, outputs, and test evidence.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00D902-08AC-462D-9CF9-FF1578C0777B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233362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AC04E7-A1B5-4501-A0B4-6197A110BF22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2333625" cy="762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61F5F-5002-4809-977D-A2AD97C06DC2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428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B7A7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B7A7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F19B3D-2DE9-41DD-89F6-77D399D53AC8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2B5DBD-8FAC-4E5D-A21C-3617166E30AA}"/>
              </a:ext>
            </a:extLst>
          </p:cNvPr>
          <p:cNvSpPr>
            <a:spLocks noGrp="1"/>
          </p:cNvSpPr>
          <p:nvPr/>
        </p:nvSpPr>
        <p:spPr>
          <a:xfrm>
            <a:off x="1257300" y="46863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 </a:t>
            </a:r>
            <a:r>
              <a:rPr sz="975" b="0" dirty="0" err="1">
                <a:solidFill>
                  <a:srgbClr val="66717E"/>
                </a:solidFill>
                <a:latin typeface="Aptos"/>
                <a:ea typeface="Aptos"/>
                <a:cs typeface="Aptos"/>
              </a:rPr>
              <a:t>wks</a:t>
            </a:r>
            <a:endParaRPr sz="975" b="0" dirty="0">
              <a:solidFill>
                <a:srgbClr val="6671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5A68BA-AF03-4507-A2DA-BBE178F24054}"/>
              </a:ext>
            </a:extLst>
          </p:cNvPr>
          <p:cNvSpPr>
            <a:spLocks noGrp="1"/>
          </p:cNvSpPr>
          <p:nvPr/>
        </p:nvSpPr>
        <p:spPr>
          <a:xfrm>
            <a:off x="3324225" y="4191000"/>
            <a:ext cx="233362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29D23-E6D8-4864-BEA4-CAD7244DF2E2}"/>
              </a:ext>
            </a:extLst>
          </p:cNvPr>
          <p:cNvSpPr>
            <a:spLocks noGrp="1"/>
          </p:cNvSpPr>
          <p:nvPr/>
        </p:nvSpPr>
        <p:spPr>
          <a:xfrm>
            <a:off x="3324225" y="4191000"/>
            <a:ext cx="2333625" cy="7620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E5215C-A7AB-4C3A-8B88-F0474897033A}"/>
              </a:ext>
            </a:extLst>
          </p:cNvPr>
          <p:cNvSpPr>
            <a:spLocks noGrp="1"/>
          </p:cNvSpPr>
          <p:nvPr/>
        </p:nvSpPr>
        <p:spPr>
          <a:xfrm>
            <a:off x="3495675" y="4438650"/>
            <a:ext cx="428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8E8776-0989-41FE-88E0-21750DC2FCE0}"/>
              </a:ext>
            </a:extLst>
          </p:cNvPr>
          <p:cNvSpPr>
            <a:spLocks noGrp="1"/>
          </p:cNvSpPr>
          <p:nvPr/>
        </p:nvSpPr>
        <p:spPr>
          <a:xfrm>
            <a:off x="3971925" y="4419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Build POC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99F4F7-005F-4F00-81A0-E97D4450494B}"/>
              </a:ext>
            </a:extLst>
          </p:cNvPr>
          <p:cNvSpPr>
            <a:spLocks noGrp="1"/>
          </p:cNvSpPr>
          <p:nvPr/>
        </p:nvSpPr>
        <p:spPr>
          <a:xfrm>
            <a:off x="3971925" y="46863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2.5 wks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78E198-B23E-481B-B04D-A646A3571925}"/>
              </a:ext>
            </a:extLst>
          </p:cNvPr>
          <p:cNvSpPr>
            <a:spLocks noGrp="1"/>
          </p:cNvSpPr>
          <p:nvPr/>
        </p:nvSpPr>
        <p:spPr>
          <a:xfrm>
            <a:off x="6038850" y="4191000"/>
            <a:ext cx="233362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870914-D82C-4D1C-9F96-62D9B1823F33}"/>
              </a:ext>
            </a:extLst>
          </p:cNvPr>
          <p:cNvSpPr>
            <a:spLocks noGrp="1"/>
          </p:cNvSpPr>
          <p:nvPr/>
        </p:nvSpPr>
        <p:spPr>
          <a:xfrm>
            <a:off x="6038850" y="4191000"/>
            <a:ext cx="2333625" cy="7620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38E0B7-5A2A-48AA-818F-9FB8C4CDB658}"/>
              </a:ext>
            </a:extLst>
          </p:cNvPr>
          <p:cNvSpPr>
            <a:spLocks noGrp="1"/>
          </p:cNvSpPr>
          <p:nvPr/>
        </p:nvSpPr>
        <p:spPr>
          <a:xfrm>
            <a:off x="6210300" y="4438650"/>
            <a:ext cx="428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4EAB01-201D-4850-8724-BD62291E319A}"/>
              </a:ext>
            </a:extLst>
          </p:cNvPr>
          <p:cNvSpPr>
            <a:spLocks noGrp="1"/>
          </p:cNvSpPr>
          <p:nvPr/>
        </p:nvSpPr>
        <p:spPr>
          <a:xfrm>
            <a:off x="6686550" y="4419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Integrate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83A37A-DFBC-4A4D-BABB-D6BBC4280831}"/>
              </a:ext>
            </a:extLst>
          </p:cNvPr>
          <p:cNvSpPr>
            <a:spLocks noGrp="1"/>
          </p:cNvSpPr>
          <p:nvPr/>
        </p:nvSpPr>
        <p:spPr>
          <a:xfrm>
            <a:off x="6686550" y="46863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 wks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B9882D-65DF-4AEC-B89E-1B667DB918D7}"/>
              </a:ext>
            </a:extLst>
          </p:cNvPr>
          <p:cNvSpPr>
            <a:spLocks noGrp="1"/>
          </p:cNvSpPr>
          <p:nvPr/>
        </p:nvSpPr>
        <p:spPr>
          <a:xfrm>
            <a:off x="8753475" y="4191000"/>
            <a:ext cx="233362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83F1D7-DEEC-49DC-B930-54E32B48C7BE}"/>
              </a:ext>
            </a:extLst>
          </p:cNvPr>
          <p:cNvSpPr>
            <a:spLocks noGrp="1"/>
          </p:cNvSpPr>
          <p:nvPr/>
        </p:nvSpPr>
        <p:spPr>
          <a:xfrm>
            <a:off x="8753475" y="4191000"/>
            <a:ext cx="2333625" cy="7620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1FC53-24AE-4C2F-850E-772D24EFF72F}"/>
              </a:ext>
            </a:extLst>
          </p:cNvPr>
          <p:cNvSpPr>
            <a:spLocks noGrp="1"/>
          </p:cNvSpPr>
          <p:nvPr/>
        </p:nvSpPr>
        <p:spPr>
          <a:xfrm>
            <a:off x="8924925" y="4438650"/>
            <a:ext cx="428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C0ED50-F192-4642-8B89-52DCC0664582}"/>
              </a:ext>
            </a:extLst>
          </p:cNvPr>
          <p:cNvSpPr>
            <a:spLocks noGrp="1"/>
          </p:cNvSpPr>
          <p:nvPr/>
        </p:nvSpPr>
        <p:spPr>
          <a:xfrm>
            <a:off x="9401175" y="4419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V-model + safety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C4E02A-AAA1-4E7E-B673-FEC785346649}"/>
              </a:ext>
            </a:extLst>
          </p:cNvPr>
          <p:cNvSpPr>
            <a:spLocks noGrp="1"/>
          </p:cNvSpPr>
          <p:nvPr/>
        </p:nvSpPr>
        <p:spPr>
          <a:xfrm>
            <a:off x="9401175" y="46863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2.5 wks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8CC491-9201-4A4E-82E2-BA248C66EE5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A68CB5-70B5-4D14-8FA5-5F93F712246E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805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CC6A499-7B45-41FA-AE27-0EF3CB5A44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2D5D5-2E80-43FB-BB09-89E3079FE2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F7A9E2E-9DB3-45AC-8732-ACC7CB08362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4C05C13-1F2F-4707-974A-E5301FE845A7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DBD7E-31F5-42BC-B6D3-58DB3CB0618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AI manages the workstream while tests and thought playback run through every phase.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34B23C-432A-4119-AFDF-0244641582E2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main stream job advances the artifact pipeline. Side rails continuously test outputs and summarize agent reasoning for human review.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8D92E-BEA1-4693-AA94-F4D317DCB88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014B67-2211-4036-B2E9-86EB8E6D5689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F489C8-E830-4E9F-9626-5EB6C069800D}"/>
              </a:ext>
            </a:extLst>
          </p:cNvPr>
          <p:cNvSpPr>
            <a:spLocks noGrp="1"/>
          </p:cNvSpPr>
          <p:nvPr/>
        </p:nvSpPr>
        <p:spPr>
          <a:xfrm>
            <a:off x="4543425" y="3067050"/>
            <a:ext cx="3143250" cy="1162050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C6A35-4739-4E48-8A51-C5540D5167FA}"/>
              </a:ext>
            </a:extLst>
          </p:cNvPr>
          <p:cNvSpPr>
            <a:spLocks noGrp="1"/>
          </p:cNvSpPr>
          <p:nvPr/>
        </p:nvSpPr>
        <p:spPr>
          <a:xfrm>
            <a:off x="4800600" y="3286125"/>
            <a:ext cx="2628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workstream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5C469-E2E3-48B4-ACAE-1D117322FAF5}"/>
              </a:ext>
            </a:extLst>
          </p:cNvPr>
          <p:cNvSpPr>
            <a:spLocks noGrp="1"/>
          </p:cNvSpPr>
          <p:nvPr/>
        </p:nvSpPr>
        <p:spPr>
          <a:xfrm>
            <a:off x="4714875" y="3724275"/>
            <a:ext cx="2800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extract -&gt; build -&gt; integrate -&gt; system-test -&gt; harden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FE975B-2610-41EB-80B9-6355E99E04B4}"/>
              </a:ext>
            </a:extLst>
          </p:cNvPr>
          <p:cNvSpPr>
            <a:spLocks noGrp="1"/>
          </p:cNvSpPr>
          <p:nvPr/>
        </p:nvSpPr>
        <p:spPr>
          <a:xfrm>
            <a:off x="933450" y="2714625"/>
            <a:ext cx="203835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6479E3-B369-4A22-9064-DA653E755E87}"/>
              </a:ext>
            </a:extLst>
          </p:cNvPr>
          <p:cNvSpPr>
            <a:spLocks noGrp="1"/>
          </p:cNvSpPr>
          <p:nvPr/>
        </p:nvSpPr>
        <p:spPr>
          <a:xfrm>
            <a:off x="933450" y="2714625"/>
            <a:ext cx="66675" cy="9144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4C525C-09DC-4E78-9061-C2E42772BF42}"/>
              </a:ext>
            </a:extLst>
          </p:cNvPr>
          <p:cNvSpPr>
            <a:spLocks noGrp="1"/>
          </p:cNvSpPr>
          <p:nvPr/>
        </p:nvSpPr>
        <p:spPr>
          <a:xfrm>
            <a:off x="1123950" y="287655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Planner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0C534-CF32-483D-AFEC-92454E7C5F2C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plans the next artifact and gate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E37B7C-F601-4C3A-BE56-860ADC2857C0}"/>
              </a:ext>
            </a:extLst>
          </p:cNvPr>
          <p:cNvSpPr>
            <a:spLocks noGrp="1"/>
          </p:cNvSpPr>
          <p:nvPr/>
        </p:nvSpPr>
        <p:spPr>
          <a:xfrm>
            <a:off x="3667125" y="2047875"/>
            <a:ext cx="203835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15E74C-313B-41D5-858F-FEFF0F62F0E2}"/>
              </a:ext>
            </a:extLst>
          </p:cNvPr>
          <p:cNvSpPr>
            <a:spLocks noGrp="1"/>
          </p:cNvSpPr>
          <p:nvPr/>
        </p:nvSpPr>
        <p:spPr>
          <a:xfrm>
            <a:off x="3667125" y="2047875"/>
            <a:ext cx="66675" cy="91440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A6FC5D-C4F1-4E0D-A79F-A960CAAA8BA1}"/>
              </a:ext>
            </a:extLst>
          </p:cNvPr>
          <p:cNvSpPr>
            <a:spLocks noGrp="1"/>
          </p:cNvSpPr>
          <p:nvPr/>
        </p:nvSpPr>
        <p:spPr>
          <a:xfrm>
            <a:off x="3857625" y="220980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Artifact writer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5811F9-93CB-49E7-8DA4-885F856DDFA1}"/>
              </a:ext>
            </a:extLst>
          </p:cNvPr>
          <p:cNvSpPr>
            <a:spLocks noGrp="1"/>
          </p:cNvSpPr>
          <p:nvPr/>
        </p:nvSpPr>
        <p:spPr>
          <a:xfrm>
            <a:off x="3857625" y="24765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writes visible files and diffs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5467A5-911D-48AB-926B-A81BE33E38CB}"/>
              </a:ext>
            </a:extLst>
          </p:cNvPr>
          <p:cNvSpPr>
            <a:spLocks noGrp="1"/>
          </p:cNvSpPr>
          <p:nvPr/>
        </p:nvSpPr>
        <p:spPr>
          <a:xfrm>
            <a:off x="7696200" y="2047875"/>
            <a:ext cx="203835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7B66E0-342C-4B4D-891A-38CC0F721FF5}"/>
              </a:ext>
            </a:extLst>
          </p:cNvPr>
          <p:cNvSpPr>
            <a:spLocks noGrp="1"/>
          </p:cNvSpPr>
          <p:nvPr/>
        </p:nvSpPr>
        <p:spPr>
          <a:xfrm>
            <a:off x="7696200" y="2047875"/>
            <a:ext cx="66675" cy="91440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B24DA2-63A4-4917-9F56-1903B13D1659}"/>
              </a:ext>
            </a:extLst>
          </p:cNvPr>
          <p:cNvSpPr>
            <a:spLocks noGrp="1"/>
          </p:cNvSpPr>
          <p:nvPr/>
        </p:nvSpPr>
        <p:spPr>
          <a:xfrm>
            <a:off x="7886700" y="220980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6E52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527D"/>
                </a:solidFill>
                <a:latin typeface="Aptos"/>
                <a:ea typeface="Aptos"/>
                <a:cs typeface="Aptos"/>
              </a:rPr>
              <a:t>Critic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472DF2-FD3E-4207-B76F-17E2606D8342}"/>
              </a:ext>
            </a:extLst>
          </p:cNvPr>
          <p:cNvSpPr>
            <a:spLocks noGrp="1"/>
          </p:cNvSpPr>
          <p:nvPr/>
        </p:nvSpPr>
        <p:spPr>
          <a:xfrm>
            <a:off x="7886700" y="24765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checks fit against paper claims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D86B84-9754-4264-84C9-E9BCFD42A01C}"/>
              </a:ext>
            </a:extLst>
          </p:cNvPr>
          <p:cNvSpPr>
            <a:spLocks noGrp="1"/>
          </p:cNvSpPr>
          <p:nvPr/>
        </p:nvSpPr>
        <p:spPr>
          <a:xfrm>
            <a:off x="9886950" y="2714625"/>
            <a:ext cx="203835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0998F2-864B-41E2-943C-D12EF0A47B61}"/>
              </a:ext>
            </a:extLst>
          </p:cNvPr>
          <p:cNvSpPr>
            <a:spLocks noGrp="1"/>
          </p:cNvSpPr>
          <p:nvPr/>
        </p:nvSpPr>
        <p:spPr>
          <a:xfrm>
            <a:off x="9886950" y="2714625"/>
            <a:ext cx="66675" cy="91440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1EC0D9-4737-4373-9824-E370CBF70872}"/>
              </a:ext>
            </a:extLst>
          </p:cNvPr>
          <p:cNvSpPr>
            <a:spLocks noGrp="1"/>
          </p:cNvSpPr>
          <p:nvPr/>
        </p:nvSpPr>
        <p:spPr>
          <a:xfrm>
            <a:off x="10077450" y="287655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Safety auditor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1C92F-7604-4D2C-9121-3A50741018C6}"/>
              </a:ext>
            </a:extLst>
          </p:cNvPr>
          <p:cNvSpPr>
            <a:spLocks noGrp="1"/>
          </p:cNvSpPr>
          <p:nvPr/>
        </p:nvSpPr>
        <p:spPr>
          <a:xfrm>
            <a:off x="10077450" y="31432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guards skills, tools, and permissions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0DA33C-6060-4633-908D-728B2D69C165}"/>
              </a:ext>
            </a:extLst>
          </p:cNvPr>
          <p:cNvSpPr>
            <a:spLocks noGrp="1"/>
          </p:cNvSpPr>
          <p:nvPr/>
        </p:nvSpPr>
        <p:spPr>
          <a:xfrm>
            <a:off x="7696200" y="4305300"/>
            <a:ext cx="203835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53FF4D-EF21-4623-9652-0F41A70440A6}"/>
              </a:ext>
            </a:extLst>
          </p:cNvPr>
          <p:cNvSpPr>
            <a:spLocks noGrp="1"/>
          </p:cNvSpPr>
          <p:nvPr/>
        </p:nvSpPr>
        <p:spPr>
          <a:xfrm>
            <a:off x="7696200" y="4305300"/>
            <a:ext cx="66675" cy="91440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F2A328-279C-4EDD-8F3B-7E7E35C7E459}"/>
              </a:ext>
            </a:extLst>
          </p:cNvPr>
          <p:cNvSpPr>
            <a:spLocks noGrp="1"/>
          </p:cNvSpPr>
          <p:nvPr/>
        </p:nvSpPr>
        <p:spPr>
          <a:xfrm>
            <a:off x="7886700" y="4467225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Test designer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CD5097-4587-495E-AA54-02C0736BAB87}"/>
              </a:ext>
            </a:extLst>
          </p:cNvPr>
          <p:cNvSpPr>
            <a:spLocks noGrp="1"/>
          </p:cNvSpPr>
          <p:nvPr/>
        </p:nvSpPr>
        <p:spPr>
          <a:xfrm>
            <a:off x="7886700" y="4733925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runs local and pipeline-level tests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BD9104-4D4B-43DD-8F44-17673A708569}"/>
              </a:ext>
            </a:extLst>
          </p:cNvPr>
          <p:cNvSpPr>
            <a:spLocks noGrp="1"/>
          </p:cNvSpPr>
          <p:nvPr/>
        </p:nvSpPr>
        <p:spPr>
          <a:xfrm>
            <a:off x="3667125" y="4305300"/>
            <a:ext cx="203835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B6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108DF6-8257-4095-A136-D78C8CEE61C8}"/>
              </a:ext>
            </a:extLst>
          </p:cNvPr>
          <p:cNvSpPr>
            <a:spLocks noGrp="1"/>
          </p:cNvSpPr>
          <p:nvPr/>
        </p:nvSpPr>
        <p:spPr>
          <a:xfrm>
            <a:off x="3667125" y="4305300"/>
            <a:ext cx="66675" cy="914400"/>
          </a:xfrm>
          <a:prstGeom prst="rect">
            <a:avLst/>
          </a:prstGeom>
          <a:solidFill>
            <a:srgbClr val="B68A2E"/>
          </a:solidFill>
          <a:ln w="0">
            <a:solidFill>
              <a:srgbClr val="B6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7AA24F-5C78-4156-B7AE-5BFB2BCBCAF3}"/>
              </a:ext>
            </a:extLst>
          </p:cNvPr>
          <p:cNvSpPr>
            <a:spLocks noGrp="1"/>
          </p:cNvSpPr>
          <p:nvPr/>
        </p:nvSpPr>
        <p:spPr>
          <a:xfrm>
            <a:off x="3857625" y="4467225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68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8A2E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6892A0-285C-4874-9425-3F21F0948D9D}"/>
              </a:ext>
            </a:extLst>
          </p:cNvPr>
          <p:cNvSpPr>
            <a:spLocks noGrp="1"/>
          </p:cNvSpPr>
          <p:nvPr/>
        </p:nvSpPr>
        <p:spPr>
          <a:xfrm>
            <a:off x="3857625" y="4733925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builds POC code in small increments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3D3FB0-BC5A-408E-B5A7-CD4CBC81B529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310515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F1FF09-5AA6-499D-9414-AE7036091853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66675" cy="6477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065B01-4F13-4513-A534-777C7C1BE708}"/>
              </a:ext>
            </a:extLst>
          </p:cNvPr>
          <p:cNvSpPr>
            <a:spLocks noGrp="1"/>
          </p:cNvSpPr>
          <p:nvPr/>
        </p:nvSpPr>
        <p:spPr>
          <a:xfrm>
            <a:off x="952500" y="5581650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Human control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B9903D-D847-4A2C-A2E6-F22B9A431628}"/>
              </a:ext>
            </a:extLst>
          </p:cNvPr>
          <p:cNvSpPr>
            <a:spLocks noGrp="1"/>
          </p:cNvSpPr>
          <p:nvPr/>
        </p:nvSpPr>
        <p:spPr>
          <a:xfrm>
            <a:off x="952500" y="5791200"/>
            <a:ext cx="2819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review, edit, approve, pause, or override at any phase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42CC4D-BE20-4F3F-8581-D6C97424C4FE}"/>
              </a:ext>
            </a:extLst>
          </p:cNvPr>
          <p:cNvSpPr>
            <a:spLocks noGrp="1"/>
          </p:cNvSpPr>
          <p:nvPr/>
        </p:nvSpPr>
        <p:spPr>
          <a:xfrm>
            <a:off x="4533900" y="5476875"/>
            <a:ext cx="310515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A0F93B-46E8-4E3E-9A18-32DE3AC936AB}"/>
              </a:ext>
            </a:extLst>
          </p:cNvPr>
          <p:cNvSpPr>
            <a:spLocks noGrp="1"/>
          </p:cNvSpPr>
          <p:nvPr/>
        </p:nvSpPr>
        <p:spPr>
          <a:xfrm>
            <a:off x="4533900" y="5476875"/>
            <a:ext cx="66675" cy="64770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738926-7DF6-4362-A0CD-23386E48E568}"/>
              </a:ext>
            </a:extLst>
          </p:cNvPr>
          <p:cNvSpPr>
            <a:spLocks noGrp="1"/>
          </p:cNvSpPr>
          <p:nvPr/>
        </p:nvSpPr>
        <p:spPr>
          <a:xfrm>
            <a:off x="4705350" y="5581650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Thought playback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ED766C-3B0A-44B9-B57C-60CFFF7545D8}"/>
              </a:ext>
            </a:extLst>
          </p:cNvPr>
          <p:cNvSpPr>
            <a:spLocks noGrp="1"/>
          </p:cNvSpPr>
          <p:nvPr/>
        </p:nvSpPr>
        <p:spPr>
          <a:xfrm>
            <a:off x="4705350" y="5791200"/>
            <a:ext cx="2819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agent reasoning is summarized into inspectable notes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FD936C-B9EA-4562-8CBC-6705DA869230}"/>
              </a:ext>
            </a:extLst>
          </p:cNvPr>
          <p:cNvSpPr>
            <a:spLocks noGrp="1"/>
          </p:cNvSpPr>
          <p:nvPr/>
        </p:nvSpPr>
        <p:spPr>
          <a:xfrm>
            <a:off x="8286750" y="5476875"/>
            <a:ext cx="310515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6616850-43D6-4E89-8F52-717928A5A1EF}"/>
              </a:ext>
            </a:extLst>
          </p:cNvPr>
          <p:cNvSpPr>
            <a:spLocks noGrp="1"/>
          </p:cNvSpPr>
          <p:nvPr/>
        </p:nvSpPr>
        <p:spPr>
          <a:xfrm>
            <a:off x="8286750" y="5476875"/>
            <a:ext cx="66675" cy="64770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82325C3-3385-4BB7-8651-DF50E350EEEA}"/>
              </a:ext>
            </a:extLst>
          </p:cNvPr>
          <p:cNvSpPr>
            <a:spLocks noGrp="1"/>
          </p:cNvSpPr>
          <p:nvPr/>
        </p:nvSpPr>
        <p:spPr>
          <a:xfrm>
            <a:off x="8458200" y="5581650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Testing side rail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2628A6-FE87-426F-AF24-8E47C962023C}"/>
              </a:ext>
            </a:extLst>
          </p:cNvPr>
          <p:cNvSpPr>
            <a:spLocks noGrp="1"/>
          </p:cNvSpPr>
          <p:nvPr/>
        </p:nvSpPr>
        <p:spPr>
          <a:xfrm>
            <a:off x="8458200" y="5791200"/>
            <a:ext cx="2819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test agents run after key outputs while the main job progresses</a:t>
            </a:r>
          </a:p>
        </p:txBody>
      </p:sp>
    </p:spTree>
    <p:extLst>
      <p:ext uri="{BB962C8B-B14F-4D97-AF65-F5344CB8AC3E}">
        <p14:creationId xmlns:p14="http://schemas.microsoft.com/office/powerpoint/2010/main" val="36545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91A07473-16CB-4F75-BC32-7CC71087D1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29AD12-635B-4AFE-BDDA-95C984EE5B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D41BA38B-5BAB-4CED-8218-2A4D803D59B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F858008-3C23-49AE-90DA-2BA1521C096B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FOUR PHASE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EA0F2-944E-4036-ABF5-1FC60ABA293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Build the scoped pipeline in four phases, then validate the whole system.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7E235-9F3F-4C0F-8955-EF01F244C9D5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2 tests the POC itself. Phase 4 applies the V-model to the full extraction-to-validated-POC pipeline.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27523-0355-484C-8826-12194B4ADB7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E87E5-BB0E-403A-9F0D-2D66D7FF04A3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6331AC-3C5C-4A8F-B96C-A9606DCFFC3C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2571750" cy="2571750"/>
          </a:xfrm>
          <a:prstGeom prst="rect">
            <a:avLst/>
          </a:prstGeom>
          <a:solidFill>
            <a:srgbClr val="FFFFFF"/>
          </a:solidFill>
          <a:ln w="14288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10603F-98C7-4575-959A-AB72035C377B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2571750" cy="952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069BF1-1DF3-4FC9-A5A7-359C53F6988E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6826A5-C777-430D-B9A1-6210EC397D48}"/>
              </a:ext>
            </a:extLst>
          </p:cNvPr>
          <p:cNvSpPr>
            <a:spLocks noGrp="1"/>
          </p:cNvSpPr>
          <p:nvPr/>
        </p:nvSpPr>
        <p:spPr>
          <a:xfrm>
            <a:off x="1828800" y="24765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1.5-2 weeks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52FB4-C0A0-4ADA-BCF5-C04B0756D556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Solution extraction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7B2307-853A-40CC-8244-8164A4A64A1E}"/>
              </a:ext>
            </a:extLst>
          </p:cNvPr>
          <p:cNvSpPr>
            <a:spLocks noGrp="1"/>
          </p:cNvSpPr>
          <p:nvPr/>
        </p:nvSpPr>
        <p:spPr>
          <a:xfrm>
            <a:off x="819150" y="3495675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C84215-22FD-4BD8-9A80-F330DFCA7B46}"/>
              </a:ext>
            </a:extLst>
          </p:cNvPr>
          <p:cNvSpPr>
            <a:spLocks noGrp="1"/>
          </p:cNvSpPr>
          <p:nvPr/>
        </p:nvSpPr>
        <p:spPr>
          <a:xfrm>
            <a:off x="981075" y="34290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paper claims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15F0BA-A31B-4995-B44A-6A0EBCE3BB94}"/>
              </a:ext>
            </a:extLst>
          </p:cNvPr>
          <p:cNvSpPr>
            <a:spLocks noGrp="1"/>
          </p:cNvSpPr>
          <p:nvPr/>
        </p:nvSpPr>
        <p:spPr>
          <a:xfrm>
            <a:off x="819150" y="3762375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6FFEDB-639D-4E5B-A272-357D88A4F0F0}"/>
              </a:ext>
            </a:extLst>
          </p:cNvPr>
          <p:cNvSpPr>
            <a:spLocks noGrp="1"/>
          </p:cNvSpPr>
          <p:nvPr/>
        </p:nvSpPr>
        <p:spPr>
          <a:xfrm>
            <a:off x="981075" y="36957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candidate solutions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7BD77-85EA-4278-8BF5-704DEA5ACC0B}"/>
              </a:ext>
            </a:extLst>
          </p:cNvPr>
          <p:cNvSpPr>
            <a:spLocks noGrp="1"/>
          </p:cNvSpPr>
          <p:nvPr/>
        </p:nvSpPr>
        <p:spPr>
          <a:xfrm>
            <a:off x="819150" y="4029075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274D7C-D077-43C9-894A-E18DA00F9A04}"/>
              </a:ext>
            </a:extLst>
          </p:cNvPr>
          <p:cNvSpPr>
            <a:spLocks noGrp="1"/>
          </p:cNvSpPr>
          <p:nvPr/>
        </p:nvSpPr>
        <p:spPr>
          <a:xfrm>
            <a:off x="981075" y="39624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 feasibility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1BE0A0-70FC-49D0-8A0C-6040DB1E2DFA}"/>
              </a:ext>
            </a:extLst>
          </p:cNvPr>
          <p:cNvSpPr>
            <a:spLocks noGrp="1"/>
          </p:cNvSpPr>
          <p:nvPr/>
        </p:nvSpPr>
        <p:spPr>
          <a:xfrm>
            <a:off x="819150" y="4295775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F112C4-1011-4A66-8C5B-C85E92D7CE93}"/>
              </a:ext>
            </a:extLst>
          </p:cNvPr>
          <p:cNvSpPr>
            <a:spLocks noGrp="1"/>
          </p:cNvSpPr>
          <p:nvPr/>
        </p:nvSpPr>
        <p:spPr>
          <a:xfrm>
            <a:off x="981075" y="42291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E9BAAB-4EF9-45A4-81F2-9DD7DE977785}"/>
              </a:ext>
            </a:extLst>
          </p:cNvPr>
          <p:cNvSpPr>
            <a:spLocks noGrp="1"/>
          </p:cNvSpPr>
          <p:nvPr/>
        </p:nvSpPr>
        <p:spPr>
          <a:xfrm>
            <a:off x="3181350" y="3448050"/>
            <a:ext cx="219075" cy="381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621D7F-415B-4F82-92AE-AACE15C6A7A7}"/>
              </a:ext>
            </a:extLst>
          </p:cNvPr>
          <p:cNvSpPr>
            <a:spLocks noGrp="1"/>
          </p:cNvSpPr>
          <p:nvPr/>
        </p:nvSpPr>
        <p:spPr>
          <a:xfrm>
            <a:off x="3400425" y="2171700"/>
            <a:ext cx="2571750" cy="2571750"/>
          </a:xfrm>
          <a:prstGeom prst="rect">
            <a:avLst/>
          </a:prstGeom>
          <a:solidFill>
            <a:srgbClr val="FFFFFF"/>
          </a:solidFill>
          <a:ln w="14288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5B957B-E827-4561-8290-445B21FA7BE5}"/>
              </a:ext>
            </a:extLst>
          </p:cNvPr>
          <p:cNvSpPr>
            <a:spLocks noGrp="1"/>
          </p:cNvSpPr>
          <p:nvPr/>
        </p:nvSpPr>
        <p:spPr>
          <a:xfrm>
            <a:off x="3400425" y="2171700"/>
            <a:ext cx="2571750" cy="952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A22339-9107-46C4-941F-E1D601DF9159}"/>
              </a:ext>
            </a:extLst>
          </p:cNvPr>
          <p:cNvSpPr>
            <a:spLocks noGrp="1"/>
          </p:cNvSpPr>
          <p:nvPr/>
        </p:nvSpPr>
        <p:spPr>
          <a:xfrm>
            <a:off x="3571875" y="24765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BBA62-5BC4-4F23-A0B4-A80DC461F1AE}"/>
              </a:ext>
            </a:extLst>
          </p:cNvPr>
          <p:cNvSpPr>
            <a:spLocks noGrp="1"/>
          </p:cNvSpPr>
          <p:nvPr/>
        </p:nvSpPr>
        <p:spPr>
          <a:xfrm>
            <a:off x="4619625" y="24765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2-2.5 weeks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001FA4-4B10-487B-911B-5F9B07C21BD1}"/>
              </a:ext>
            </a:extLst>
          </p:cNvPr>
          <p:cNvSpPr>
            <a:spLocks noGrp="1"/>
          </p:cNvSpPr>
          <p:nvPr/>
        </p:nvSpPr>
        <p:spPr>
          <a:xfrm>
            <a:off x="3571875" y="2809875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POC build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57B135-4752-4ED2-BCF7-BA98FEDFBB9E}"/>
              </a:ext>
            </a:extLst>
          </p:cNvPr>
          <p:cNvSpPr>
            <a:spLocks noGrp="1"/>
          </p:cNvSpPr>
          <p:nvPr/>
        </p:nvSpPr>
        <p:spPr>
          <a:xfrm>
            <a:off x="3609975" y="3495675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CF6ECD-BBB8-4A8B-B804-70557DC6DA53}"/>
              </a:ext>
            </a:extLst>
          </p:cNvPr>
          <p:cNvSpPr>
            <a:spLocks noGrp="1"/>
          </p:cNvSpPr>
          <p:nvPr/>
        </p:nvSpPr>
        <p:spPr>
          <a:xfrm>
            <a:off x="3771900" y="34290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selected solution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DD3792-4C1D-472D-9388-598E1641D19E}"/>
              </a:ext>
            </a:extLst>
          </p:cNvPr>
          <p:cNvSpPr>
            <a:spLocks noGrp="1"/>
          </p:cNvSpPr>
          <p:nvPr/>
        </p:nvSpPr>
        <p:spPr>
          <a:xfrm>
            <a:off x="3609975" y="3762375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DC2924-B21F-43D1-BA66-98069FD427EA}"/>
              </a:ext>
            </a:extLst>
          </p:cNvPr>
          <p:cNvSpPr>
            <a:spLocks noGrp="1"/>
          </p:cNvSpPr>
          <p:nvPr/>
        </p:nvSpPr>
        <p:spPr>
          <a:xfrm>
            <a:off x="3771900" y="36957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 V-model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3983CA-78B5-4E50-8E94-E3272D9C900F}"/>
              </a:ext>
            </a:extLst>
          </p:cNvPr>
          <p:cNvSpPr>
            <a:spLocks noGrp="1"/>
          </p:cNvSpPr>
          <p:nvPr/>
        </p:nvSpPr>
        <p:spPr>
          <a:xfrm>
            <a:off x="3609975" y="4029075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2B7D92-ACC0-4AE6-94A2-13B5E77441F9}"/>
              </a:ext>
            </a:extLst>
          </p:cNvPr>
          <p:cNvSpPr>
            <a:spLocks noGrp="1"/>
          </p:cNvSpPr>
          <p:nvPr/>
        </p:nvSpPr>
        <p:spPr>
          <a:xfrm>
            <a:off x="3771900" y="39624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21A2C9-8ABE-4884-A109-DEF5152AE10E}"/>
              </a:ext>
            </a:extLst>
          </p:cNvPr>
          <p:cNvSpPr>
            <a:spLocks noGrp="1"/>
          </p:cNvSpPr>
          <p:nvPr/>
        </p:nvSpPr>
        <p:spPr>
          <a:xfrm>
            <a:off x="3609975" y="4295775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51C981-C5A7-443C-BA48-54C6C21BBC20}"/>
              </a:ext>
            </a:extLst>
          </p:cNvPr>
          <p:cNvSpPr>
            <a:spLocks noGrp="1"/>
          </p:cNvSpPr>
          <p:nvPr/>
        </p:nvSpPr>
        <p:spPr>
          <a:xfrm>
            <a:off x="3771900" y="42291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41A204-E3C5-4EDC-819E-02E851307252}"/>
              </a:ext>
            </a:extLst>
          </p:cNvPr>
          <p:cNvSpPr>
            <a:spLocks noGrp="1"/>
          </p:cNvSpPr>
          <p:nvPr/>
        </p:nvSpPr>
        <p:spPr>
          <a:xfrm>
            <a:off x="5972175" y="3448050"/>
            <a:ext cx="219075" cy="3810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D292C5-A1B7-413F-B2A8-658595B22B7D}"/>
              </a:ext>
            </a:extLst>
          </p:cNvPr>
          <p:cNvSpPr>
            <a:spLocks noGrp="1"/>
          </p:cNvSpPr>
          <p:nvPr/>
        </p:nvSpPr>
        <p:spPr>
          <a:xfrm>
            <a:off x="6191250" y="2171700"/>
            <a:ext cx="2571750" cy="2571750"/>
          </a:xfrm>
          <a:prstGeom prst="rect">
            <a:avLst/>
          </a:prstGeom>
          <a:solidFill>
            <a:srgbClr val="FFFFFF"/>
          </a:solidFill>
          <a:ln w="14288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26D9BD-A42B-4E41-A108-AE25DD6F5046}"/>
              </a:ext>
            </a:extLst>
          </p:cNvPr>
          <p:cNvSpPr>
            <a:spLocks noGrp="1"/>
          </p:cNvSpPr>
          <p:nvPr/>
        </p:nvSpPr>
        <p:spPr>
          <a:xfrm>
            <a:off x="6191250" y="2171700"/>
            <a:ext cx="2571750" cy="9525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BB3AFF-E709-4A07-A996-F09CEAB6EDC1}"/>
              </a:ext>
            </a:extLst>
          </p:cNvPr>
          <p:cNvSpPr>
            <a:spLocks noGrp="1"/>
          </p:cNvSpPr>
          <p:nvPr/>
        </p:nvSpPr>
        <p:spPr>
          <a:xfrm>
            <a:off x="6362700" y="24765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E5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527D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C66256-BEF2-465A-962F-37238861D002}"/>
              </a:ext>
            </a:extLst>
          </p:cNvPr>
          <p:cNvSpPr>
            <a:spLocks noGrp="1"/>
          </p:cNvSpPr>
          <p:nvPr/>
        </p:nvSpPr>
        <p:spPr>
          <a:xfrm>
            <a:off x="7410450" y="24765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2-2.5 weeks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EFBAD5-70AA-4EA9-AFD6-67D94E4F6602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Pipeline integration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A18E16-57F8-4DB7-AF8A-945B247CB86F}"/>
              </a:ext>
            </a:extLst>
          </p:cNvPr>
          <p:cNvSpPr>
            <a:spLocks noGrp="1"/>
          </p:cNvSpPr>
          <p:nvPr/>
        </p:nvSpPr>
        <p:spPr>
          <a:xfrm>
            <a:off x="6400800" y="3495675"/>
            <a:ext cx="57150" cy="5715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439A53-3AD9-4083-8681-D019D66B3550}"/>
              </a:ext>
            </a:extLst>
          </p:cNvPr>
          <p:cNvSpPr>
            <a:spLocks noGrp="1"/>
          </p:cNvSpPr>
          <p:nvPr/>
        </p:nvSpPr>
        <p:spPr>
          <a:xfrm>
            <a:off x="6562725" y="34290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handoff contract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E1A205-C616-4AB5-8A85-D9A9A4BA4C64}"/>
              </a:ext>
            </a:extLst>
          </p:cNvPr>
          <p:cNvSpPr>
            <a:spLocks noGrp="1"/>
          </p:cNvSpPr>
          <p:nvPr/>
        </p:nvSpPr>
        <p:spPr>
          <a:xfrm>
            <a:off x="6400800" y="3762375"/>
            <a:ext cx="57150" cy="5715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724E41F-4BE6-4C8A-AA2D-85908A057FEF}"/>
              </a:ext>
            </a:extLst>
          </p:cNvPr>
          <p:cNvSpPr>
            <a:spLocks noGrp="1"/>
          </p:cNvSpPr>
          <p:nvPr/>
        </p:nvSpPr>
        <p:spPr>
          <a:xfrm>
            <a:off x="6562725" y="36957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hidden issues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0403BD-71D1-4E75-9423-AD2E1AFEABF1}"/>
              </a:ext>
            </a:extLst>
          </p:cNvPr>
          <p:cNvSpPr>
            <a:spLocks noGrp="1"/>
          </p:cNvSpPr>
          <p:nvPr/>
        </p:nvSpPr>
        <p:spPr>
          <a:xfrm>
            <a:off x="6400800" y="4029075"/>
            <a:ext cx="57150" cy="5715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18FB35-530C-4D13-9BAE-931DF4DA170F}"/>
              </a:ext>
            </a:extLst>
          </p:cNvPr>
          <p:cNvSpPr>
            <a:spLocks noGrp="1"/>
          </p:cNvSpPr>
          <p:nvPr/>
        </p:nvSpPr>
        <p:spPr>
          <a:xfrm>
            <a:off x="6562725" y="39624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recovery loops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263111-C6B2-4F04-B6BC-61BF0FFC275E}"/>
              </a:ext>
            </a:extLst>
          </p:cNvPr>
          <p:cNvSpPr>
            <a:spLocks noGrp="1"/>
          </p:cNvSpPr>
          <p:nvPr/>
        </p:nvSpPr>
        <p:spPr>
          <a:xfrm>
            <a:off x="6400800" y="4295775"/>
            <a:ext cx="57150" cy="5715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D7F1C7-40E5-4381-993E-166EA4E04528}"/>
              </a:ext>
            </a:extLst>
          </p:cNvPr>
          <p:cNvSpPr>
            <a:spLocks noGrp="1"/>
          </p:cNvSpPr>
          <p:nvPr/>
        </p:nvSpPr>
        <p:spPr>
          <a:xfrm>
            <a:off x="6562725" y="42291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resume flow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2B0E30-CDFB-456D-AD3D-1FEF30639A8A}"/>
              </a:ext>
            </a:extLst>
          </p:cNvPr>
          <p:cNvSpPr>
            <a:spLocks noGrp="1"/>
          </p:cNvSpPr>
          <p:nvPr/>
        </p:nvSpPr>
        <p:spPr>
          <a:xfrm>
            <a:off x="8763000" y="3448050"/>
            <a:ext cx="219075" cy="3810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4C0DCB-3C81-497A-AD05-BC84793FB8C0}"/>
              </a:ext>
            </a:extLst>
          </p:cNvPr>
          <p:cNvSpPr>
            <a:spLocks noGrp="1"/>
          </p:cNvSpPr>
          <p:nvPr/>
        </p:nvSpPr>
        <p:spPr>
          <a:xfrm>
            <a:off x="8982075" y="2171700"/>
            <a:ext cx="2571750" cy="2571750"/>
          </a:xfrm>
          <a:prstGeom prst="rect">
            <a:avLst/>
          </a:prstGeom>
          <a:solidFill>
            <a:srgbClr val="FFFFFF"/>
          </a:solidFill>
          <a:ln w="14288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9774395-04BC-4A0D-A687-C15C38C34D61}"/>
              </a:ext>
            </a:extLst>
          </p:cNvPr>
          <p:cNvSpPr>
            <a:spLocks noGrp="1"/>
          </p:cNvSpPr>
          <p:nvPr/>
        </p:nvSpPr>
        <p:spPr>
          <a:xfrm>
            <a:off x="8982075" y="2171700"/>
            <a:ext cx="2571750" cy="952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682F2E4-263A-42E3-861D-8FB076973EC5}"/>
              </a:ext>
            </a:extLst>
          </p:cNvPr>
          <p:cNvSpPr>
            <a:spLocks noGrp="1"/>
          </p:cNvSpPr>
          <p:nvPr/>
        </p:nvSpPr>
        <p:spPr>
          <a:xfrm>
            <a:off x="9153525" y="24765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90D73B-DF0F-4643-A810-3FFF68F1EA1C}"/>
              </a:ext>
            </a:extLst>
          </p:cNvPr>
          <p:cNvSpPr>
            <a:spLocks noGrp="1"/>
          </p:cNvSpPr>
          <p:nvPr/>
        </p:nvSpPr>
        <p:spPr>
          <a:xfrm>
            <a:off x="10201275" y="24765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2 weeks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6B769E-E205-47A1-B3B6-4FC5063F9A7A}"/>
              </a:ext>
            </a:extLst>
          </p:cNvPr>
          <p:cNvSpPr>
            <a:spLocks noGrp="1"/>
          </p:cNvSpPr>
          <p:nvPr/>
        </p:nvSpPr>
        <p:spPr>
          <a:xfrm>
            <a:off x="9153525" y="2809875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Pipeline V-model + safety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BF8C4B-CAB1-435F-9C94-8E2357097F84}"/>
              </a:ext>
            </a:extLst>
          </p:cNvPr>
          <p:cNvSpPr>
            <a:spLocks noGrp="1"/>
          </p:cNvSpPr>
          <p:nvPr/>
        </p:nvSpPr>
        <p:spPr>
          <a:xfrm>
            <a:off x="9191625" y="34956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9221D3F-94FD-434F-8DFB-E64DDE4BB8CA}"/>
              </a:ext>
            </a:extLst>
          </p:cNvPr>
          <p:cNvSpPr>
            <a:spLocks noGrp="1"/>
          </p:cNvSpPr>
          <p:nvPr/>
        </p:nvSpPr>
        <p:spPr>
          <a:xfrm>
            <a:off x="9353550" y="34290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system tests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BB0BC34-3D88-4E9A-8051-5DE627FA2A5B}"/>
              </a:ext>
            </a:extLst>
          </p:cNvPr>
          <p:cNvSpPr>
            <a:spLocks noGrp="1"/>
          </p:cNvSpPr>
          <p:nvPr/>
        </p:nvSpPr>
        <p:spPr>
          <a:xfrm>
            <a:off x="9191625" y="37623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F42CA01-2E10-4FB8-B582-77ACB61AD899}"/>
              </a:ext>
            </a:extLst>
          </p:cNvPr>
          <p:cNvSpPr>
            <a:spLocks noGrp="1"/>
          </p:cNvSpPr>
          <p:nvPr/>
        </p:nvSpPr>
        <p:spPr>
          <a:xfrm>
            <a:off x="9353550" y="36957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skill checker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3235F8F-D569-427A-8026-3ABDBAE79B32}"/>
              </a:ext>
            </a:extLst>
          </p:cNvPr>
          <p:cNvSpPr>
            <a:spLocks noGrp="1"/>
          </p:cNvSpPr>
          <p:nvPr/>
        </p:nvSpPr>
        <p:spPr>
          <a:xfrm>
            <a:off x="9191625" y="40290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B6AF696-0C7F-4A68-8430-78DC930270EA}"/>
              </a:ext>
            </a:extLst>
          </p:cNvPr>
          <p:cNvSpPr>
            <a:spLocks noGrp="1"/>
          </p:cNvSpPr>
          <p:nvPr/>
        </p:nvSpPr>
        <p:spPr>
          <a:xfrm>
            <a:off x="9353550" y="39624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playback checks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5553F53-19C0-4029-8485-615616CABB32}"/>
              </a:ext>
            </a:extLst>
          </p:cNvPr>
          <p:cNvSpPr>
            <a:spLocks noGrp="1"/>
          </p:cNvSpPr>
          <p:nvPr/>
        </p:nvSpPr>
        <p:spPr>
          <a:xfrm>
            <a:off x="9191625" y="42957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2B24817-7B6F-4F59-AE57-534FA85553A9}"/>
              </a:ext>
            </a:extLst>
          </p:cNvPr>
          <p:cNvSpPr>
            <a:spLocks noGrp="1"/>
          </p:cNvSpPr>
          <p:nvPr/>
        </p:nvSpPr>
        <p:spPr>
          <a:xfrm>
            <a:off x="9353550" y="4229100"/>
            <a:ext cx="19335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final gates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E13589E-700D-4CC0-BEBB-65E4BAC354AA}"/>
              </a:ext>
            </a:extLst>
          </p:cNvPr>
          <p:cNvSpPr>
            <a:spLocks noGrp="1"/>
          </p:cNvSpPr>
          <p:nvPr/>
        </p:nvSpPr>
        <p:spPr>
          <a:xfrm>
            <a:off x="857250" y="5191125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PHASE EXIT RULE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E0A3B5-8EB3-40C8-B985-AB9708CF7733}"/>
              </a:ext>
            </a:extLst>
          </p:cNvPr>
          <p:cNvSpPr>
            <a:spLocks noGrp="1"/>
          </p:cNvSpPr>
          <p:nvPr/>
        </p:nvSpPr>
        <p:spPr>
          <a:xfrm>
            <a:off x="857250" y="5429250"/>
            <a:ext cx="2095500" cy="190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324F3C3-D32F-4DAE-8D68-FF15A08E8624}"/>
              </a:ext>
            </a:extLst>
          </p:cNvPr>
          <p:cNvSpPr>
            <a:spLocks noGrp="1"/>
          </p:cNvSpPr>
          <p:nvPr/>
        </p:nvSpPr>
        <p:spPr>
          <a:xfrm>
            <a:off x="857250" y="55435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 phase is done only when tests pass, thought playback is visible, the human gate is recorded, and the next phase can consume its artifacts.</a:t>
            </a:r>
          </a:p>
        </p:txBody>
      </p:sp>
    </p:spTree>
    <p:extLst>
      <p:ext uri="{BB962C8B-B14F-4D97-AF65-F5344CB8AC3E}">
        <p14:creationId xmlns:p14="http://schemas.microsoft.com/office/powerpoint/2010/main" val="1766334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53F78C27-B9DF-4C55-AD55-434974293D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9E3012-C72B-42E0-ACBC-0E83B152E7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BC9330F6-FD26-45D7-AB32-4B505AD1DAC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AEA92A6-F8CC-414C-954B-9E481EB9BF2B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75B6A5-C086-4562-A447-B47AA3E7DCD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Achieve accurate extraction of possible POC solutions from the paper.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1C2DE3-39B0-47DC-9822-280CD4BFF41B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first risk is misunderstanding the paper. This phase turns claims, assumptions, and proposed methods into testable POC candidates.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7E501-BC7E-4F90-9003-D9F76C51136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16B772-D20A-445F-8EAD-833FA114F457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B04CCE-5D4F-4644-808A-CC8C55D89E9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143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B21F91-BAD4-4D45-874C-5E89AF955D1D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143250" cy="762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0C3390-A205-4EF1-A9A1-D5DF192D17D9}"/>
              </a:ext>
            </a:extLst>
          </p:cNvPr>
          <p:cNvSpPr>
            <a:spLocks noGrp="1"/>
          </p:cNvSpPr>
          <p:nvPr/>
        </p:nvSpPr>
        <p:spPr>
          <a:xfrm>
            <a:off x="781050" y="2181225"/>
            <a:ext cx="666750" cy="2476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DF670E-0595-4EE0-A398-03C2BAEEB9E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B56DC-F535-400E-8110-C63199B6D9BB}"/>
              </a:ext>
            </a:extLst>
          </p:cNvPr>
          <p:cNvSpPr>
            <a:spLocks noGrp="1"/>
          </p:cNvSpPr>
          <p:nvPr/>
        </p:nvSpPr>
        <p:spPr>
          <a:xfrm>
            <a:off x="1562100" y="2181225"/>
            <a:ext cx="201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1.5-2 weeks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481B08-36E9-48E1-885D-A86C5D8C8845}"/>
              </a:ext>
            </a:extLst>
          </p:cNvPr>
          <p:cNvSpPr>
            <a:spLocks noGrp="1"/>
          </p:cNvSpPr>
          <p:nvPr/>
        </p:nvSpPr>
        <p:spPr>
          <a:xfrm>
            <a:off x="781050" y="2543175"/>
            <a:ext cx="2800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Extract POC candidates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4F576-4ECE-443F-8485-E69207F895D4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463F4F-2B39-47F9-8144-0E172410DD10}"/>
              </a:ext>
            </a:extLst>
          </p:cNvPr>
          <p:cNvSpPr>
            <a:spLocks noGrp="1"/>
          </p:cNvSpPr>
          <p:nvPr/>
        </p:nvSpPr>
        <p:spPr>
          <a:xfrm>
            <a:off x="962025" y="3114675"/>
            <a:ext cx="26003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parse paper claims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83F763-D097-4F33-8293-680582BCBC5A}"/>
              </a:ext>
            </a:extLst>
          </p:cNvPr>
          <p:cNvSpPr>
            <a:spLocks noGrp="1"/>
          </p:cNvSpPr>
          <p:nvPr/>
        </p:nvSpPr>
        <p:spPr>
          <a:xfrm>
            <a:off x="800100" y="3476625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5475ED-0877-46F0-89AC-00D37F5EE56F}"/>
              </a:ext>
            </a:extLst>
          </p:cNvPr>
          <p:cNvSpPr>
            <a:spLocks noGrp="1"/>
          </p:cNvSpPr>
          <p:nvPr/>
        </p:nvSpPr>
        <p:spPr>
          <a:xfrm>
            <a:off x="962025" y="3409950"/>
            <a:ext cx="26003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 possible solutions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C15FFD-2057-490A-9265-31519F95911B}"/>
              </a:ext>
            </a:extLst>
          </p:cNvPr>
          <p:cNvSpPr>
            <a:spLocks noGrp="1"/>
          </p:cNvSpPr>
          <p:nvPr/>
        </p:nvSpPr>
        <p:spPr>
          <a:xfrm>
            <a:off x="800100" y="3771900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68576-5309-4D85-9A10-8EFA6B5EB176}"/>
              </a:ext>
            </a:extLst>
          </p:cNvPr>
          <p:cNvSpPr>
            <a:spLocks noGrp="1"/>
          </p:cNvSpPr>
          <p:nvPr/>
        </p:nvSpPr>
        <p:spPr>
          <a:xfrm>
            <a:off x="962025" y="3705225"/>
            <a:ext cx="26003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map claims to 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3317E7-09E5-438B-A8DE-7C791C617D1B}"/>
              </a:ext>
            </a:extLst>
          </p:cNvPr>
          <p:cNvSpPr>
            <a:spLocks noGrp="1"/>
          </p:cNvSpPr>
          <p:nvPr/>
        </p:nvSpPr>
        <p:spPr>
          <a:xfrm>
            <a:off x="800100" y="4067175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FAF3BF-9719-4552-8137-5EC1C4E80FB6}"/>
              </a:ext>
            </a:extLst>
          </p:cNvPr>
          <p:cNvSpPr>
            <a:spLocks noGrp="1"/>
          </p:cNvSpPr>
          <p:nvPr/>
        </p:nvSpPr>
        <p:spPr>
          <a:xfrm>
            <a:off x="962025" y="4000500"/>
            <a:ext cx="26003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rank POC feasibility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8F90C6-54CA-49A2-9F2C-E7B873A9332E}"/>
              </a:ext>
            </a:extLst>
          </p:cNvPr>
          <p:cNvSpPr>
            <a:spLocks noGrp="1"/>
          </p:cNvSpPr>
          <p:nvPr/>
        </p:nvSpPr>
        <p:spPr>
          <a:xfrm>
            <a:off x="800100" y="4362450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998FBA-1F38-4024-B39F-0D6F195B5315}"/>
              </a:ext>
            </a:extLst>
          </p:cNvPr>
          <p:cNvSpPr>
            <a:spLocks noGrp="1"/>
          </p:cNvSpPr>
          <p:nvPr/>
        </p:nvSpPr>
        <p:spPr>
          <a:xfrm>
            <a:off x="962025" y="4295775"/>
            <a:ext cx="26003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summarize agent thought playback for human 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889FE9-CDB6-4C60-8CA7-4E29B3BDABAF}"/>
              </a:ext>
            </a:extLst>
          </p:cNvPr>
          <p:cNvSpPr>
            <a:spLocks noGrp="1"/>
          </p:cNvSpPr>
          <p:nvPr/>
        </p:nvSpPr>
        <p:spPr>
          <a:xfrm>
            <a:off x="4333875" y="1952625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DELIVERABLE SHAPE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F3E142-7819-4757-8BAF-E766C28692E1}"/>
              </a:ext>
            </a:extLst>
          </p:cNvPr>
          <p:cNvSpPr>
            <a:spLocks noGrp="1"/>
          </p:cNvSpPr>
          <p:nvPr/>
        </p:nvSpPr>
        <p:spPr>
          <a:xfrm>
            <a:off x="4333875" y="2190750"/>
            <a:ext cx="2095500" cy="190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479A1A-83A9-4FE0-9993-AA18AC11D306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0BF11E-5A93-499C-9154-DB6FB273E7F8}"/>
              </a:ext>
            </a:extLst>
          </p:cNvPr>
          <p:cNvSpPr>
            <a:spLocks noGrp="1"/>
          </p:cNvSpPr>
          <p:nvPr/>
        </p:nvSpPr>
        <p:spPr>
          <a:xfrm>
            <a:off x="4448175" y="24574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paper_analysis.md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961FE5-D982-4909-92FD-D8929AA83A61}"/>
              </a:ext>
            </a:extLst>
          </p:cNvPr>
          <p:cNvSpPr>
            <a:spLocks noGrp="1"/>
          </p:cNvSpPr>
          <p:nvPr/>
        </p:nvSpPr>
        <p:spPr>
          <a:xfrm>
            <a:off x="6334125" y="23812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0D1A4B-2690-433E-9633-F0D16761AF43}"/>
              </a:ext>
            </a:extLst>
          </p:cNvPr>
          <p:cNvSpPr>
            <a:spLocks noGrp="1"/>
          </p:cNvSpPr>
          <p:nvPr/>
        </p:nvSpPr>
        <p:spPr>
          <a:xfrm>
            <a:off x="6448425" y="24574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solution_candidates.md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932ACB-9551-4636-96CB-E511ADBC5FAC}"/>
              </a:ext>
            </a:extLst>
          </p:cNvPr>
          <p:cNvSpPr>
            <a:spLocks noGrp="1"/>
          </p:cNvSpPr>
          <p:nvPr/>
        </p:nvSpPr>
        <p:spPr>
          <a:xfrm>
            <a:off x="4333875" y="285750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9EA050-D3A2-46A3-B2A1-9A6320456CA9}"/>
              </a:ext>
            </a:extLst>
          </p:cNvPr>
          <p:cNvSpPr>
            <a:spLocks noGrp="1"/>
          </p:cNvSpPr>
          <p:nvPr/>
        </p:nvSpPr>
        <p:spPr>
          <a:xfrm>
            <a:off x="4448175" y="293370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claim_map.md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5DAF61-4D3D-4357-996B-3907158F5F76}"/>
              </a:ext>
            </a:extLst>
          </p:cNvPr>
          <p:cNvSpPr>
            <a:spLocks noGrp="1"/>
          </p:cNvSpPr>
          <p:nvPr/>
        </p:nvSpPr>
        <p:spPr>
          <a:xfrm>
            <a:off x="6334125" y="285750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88DF13-B35E-4240-9199-5CD4EBFF2C2B}"/>
              </a:ext>
            </a:extLst>
          </p:cNvPr>
          <p:cNvSpPr>
            <a:spLocks noGrp="1"/>
          </p:cNvSpPr>
          <p:nvPr/>
        </p:nvSpPr>
        <p:spPr>
          <a:xfrm>
            <a:off x="6448425" y="293370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poc_feasibility_review.md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AE53A0-AB05-448A-820B-54347AC21AC3}"/>
              </a:ext>
            </a:extLst>
          </p:cNvPr>
          <p:cNvSpPr>
            <a:spLocks noGrp="1"/>
          </p:cNvSpPr>
          <p:nvPr/>
        </p:nvSpPr>
        <p:spPr>
          <a:xfrm>
            <a:off x="4333875" y="33337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514CA3-0B8C-4954-BC69-BE7D5A78EF67}"/>
              </a:ext>
            </a:extLst>
          </p:cNvPr>
          <p:cNvSpPr>
            <a:spLocks noGrp="1"/>
          </p:cNvSpPr>
          <p:nvPr/>
        </p:nvSpPr>
        <p:spPr>
          <a:xfrm>
            <a:off x="4448175" y="34099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thought_playback.md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6E10D6-877C-450F-94B4-22DA32EE87C8}"/>
              </a:ext>
            </a:extLst>
          </p:cNvPr>
          <p:cNvSpPr>
            <a:spLocks noGrp="1"/>
          </p:cNvSpPr>
          <p:nvPr/>
        </p:nvSpPr>
        <p:spPr>
          <a:xfrm>
            <a:off x="6334125" y="33337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BFF11FE-39B6-4745-B5FD-0373284D3FE1}"/>
              </a:ext>
            </a:extLst>
          </p:cNvPr>
          <p:cNvSpPr>
            <a:spLocks noGrp="1"/>
          </p:cNvSpPr>
          <p:nvPr/>
        </p:nvSpPr>
        <p:spPr>
          <a:xfrm>
            <a:off x="6448425" y="34099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human_review.md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66D3F22-A83B-464E-9B8B-EE374DFB8A0C}"/>
              </a:ext>
            </a:extLst>
          </p:cNvPr>
          <p:cNvSpPr>
            <a:spLocks noGrp="1"/>
          </p:cNvSpPr>
          <p:nvPr/>
        </p:nvSpPr>
        <p:spPr>
          <a:xfrm>
            <a:off x="4333875" y="381000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AAAFD0-948E-4BDA-A106-5779AF67E3B0}"/>
              </a:ext>
            </a:extLst>
          </p:cNvPr>
          <p:cNvSpPr>
            <a:spLocks noGrp="1"/>
          </p:cNvSpPr>
          <p:nvPr/>
        </p:nvSpPr>
        <p:spPr>
          <a:xfrm>
            <a:off x="4448175" y="388620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rPr>
              <a:t>extraction_tests.md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129A66C-CD9B-48CE-9335-A7A27948FCCE}"/>
              </a:ext>
            </a:extLst>
          </p:cNvPr>
          <p:cNvSpPr>
            <a:spLocks noGrp="1"/>
          </p:cNvSpPr>
          <p:nvPr/>
        </p:nvSpPr>
        <p:spPr>
          <a:xfrm>
            <a:off x="8477250" y="1952625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TESTS AND EXIT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B619A9-98D7-43BC-91B4-4AF431D8DC37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095500" cy="190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952AEF-7950-47E2-AD37-1AAFDF733998}"/>
              </a:ext>
            </a:extLst>
          </p:cNvPr>
          <p:cNvSpPr>
            <a:spLocks noGrp="1"/>
          </p:cNvSpPr>
          <p:nvPr/>
        </p:nvSpPr>
        <p:spPr>
          <a:xfrm>
            <a:off x="8477250" y="2381250"/>
            <a:ext cx="278130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393DB9-BA3B-428B-BAED-64E1A841FEEC}"/>
              </a:ext>
            </a:extLst>
          </p:cNvPr>
          <p:cNvSpPr>
            <a:spLocks noGrp="1"/>
          </p:cNvSpPr>
          <p:nvPr/>
        </p:nvSpPr>
        <p:spPr>
          <a:xfrm>
            <a:off x="8477250" y="2381250"/>
            <a:ext cx="66675" cy="64770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F12035-41C3-47BA-BBE5-E3FA67580072}"/>
              </a:ext>
            </a:extLst>
          </p:cNvPr>
          <p:cNvSpPr>
            <a:spLocks noGrp="1"/>
          </p:cNvSpPr>
          <p:nvPr/>
        </p:nvSpPr>
        <p:spPr>
          <a:xfrm>
            <a:off x="8648700" y="2486025"/>
            <a:ext cx="249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Completeness check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21ADE1-540E-4B3F-8859-266971D000A2}"/>
              </a:ext>
            </a:extLst>
          </p:cNvPr>
          <p:cNvSpPr>
            <a:spLocks noGrp="1"/>
          </p:cNvSpPr>
          <p:nvPr/>
        </p:nvSpPr>
        <p:spPr>
          <a:xfrm>
            <a:off x="8648700" y="2695575"/>
            <a:ext cx="2495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major paper claims are represented in the extraction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DA50425-6814-471F-A22B-CC282DE62907}"/>
              </a:ext>
            </a:extLst>
          </p:cNvPr>
          <p:cNvSpPr>
            <a:spLocks noGrp="1"/>
          </p:cNvSpPr>
          <p:nvPr/>
        </p:nvSpPr>
        <p:spPr>
          <a:xfrm>
            <a:off x="8477250" y="3200400"/>
            <a:ext cx="278130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4F8A154-1DCB-4D8A-B013-4261F409C533}"/>
              </a:ext>
            </a:extLst>
          </p:cNvPr>
          <p:cNvSpPr>
            <a:spLocks noGrp="1"/>
          </p:cNvSpPr>
          <p:nvPr/>
        </p:nvSpPr>
        <p:spPr>
          <a:xfrm>
            <a:off x="8477250" y="3200400"/>
            <a:ext cx="66675" cy="6477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9529D3D-054E-4FA1-9178-BF06012E80B3}"/>
              </a:ext>
            </a:extLst>
          </p:cNvPr>
          <p:cNvSpPr>
            <a:spLocks noGrp="1"/>
          </p:cNvSpPr>
          <p:nvPr/>
        </p:nvSpPr>
        <p:spPr>
          <a:xfrm>
            <a:off x="8648700" y="3305175"/>
            <a:ext cx="249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Traceability check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AA7E335-8433-4EBA-B263-6F3D83D4F5F5}"/>
              </a:ext>
            </a:extLst>
          </p:cNvPr>
          <p:cNvSpPr>
            <a:spLocks noGrp="1"/>
          </p:cNvSpPr>
          <p:nvPr/>
        </p:nvSpPr>
        <p:spPr>
          <a:xfrm>
            <a:off x="8648700" y="3514725"/>
            <a:ext cx="2495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each candidate links back to claims, assumptions, and citations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E567308-028D-4C14-8CF9-2FB0130DA01D}"/>
              </a:ext>
            </a:extLst>
          </p:cNvPr>
          <p:cNvSpPr>
            <a:spLocks noGrp="1"/>
          </p:cNvSpPr>
          <p:nvPr/>
        </p:nvSpPr>
        <p:spPr>
          <a:xfrm>
            <a:off x="8477250" y="4019550"/>
            <a:ext cx="278130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2874780-04E3-4A8B-A4C4-F6A92D16606B}"/>
              </a:ext>
            </a:extLst>
          </p:cNvPr>
          <p:cNvSpPr>
            <a:spLocks noGrp="1"/>
          </p:cNvSpPr>
          <p:nvPr/>
        </p:nvSpPr>
        <p:spPr>
          <a:xfrm>
            <a:off x="8477250" y="4019550"/>
            <a:ext cx="66675" cy="64770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3E24CD-3BF5-48B7-823B-C44BB21BA611}"/>
              </a:ext>
            </a:extLst>
          </p:cNvPr>
          <p:cNvSpPr>
            <a:spLocks noGrp="1"/>
          </p:cNvSpPr>
          <p:nvPr/>
        </p:nvSpPr>
        <p:spPr>
          <a:xfrm>
            <a:off x="8648700" y="4124325"/>
            <a:ext cx="249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Hallucination check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67A9C0-B600-4AE8-9988-0197D1CD0501}"/>
              </a:ext>
            </a:extLst>
          </p:cNvPr>
          <p:cNvSpPr>
            <a:spLocks noGrp="1"/>
          </p:cNvSpPr>
          <p:nvPr/>
        </p:nvSpPr>
        <p:spPr>
          <a:xfrm>
            <a:off x="8648700" y="4333875"/>
            <a:ext cx="2495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unsupported solutions are flagged before the build phase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7B21BB-BEB9-4830-83F7-B8BE60F2AF6D}"/>
              </a:ext>
            </a:extLst>
          </p:cNvPr>
          <p:cNvSpPr>
            <a:spLocks noGrp="1"/>
          </p:cNvSpPr>
          <p:nvPr/>
        </p:nvSpPr>
        <p:spPr>
          <a:xfrm>
            <a:off x="8477250" y="4838700"/>
            <a:ext cx="278130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9C459A3-4AC9-4E64-B6A0-9DD6A2BD9AED}"/>
              </a:ext>
            </a:extLst>
          </p:cNvPr>
          <p:cNvSpPr>
            <a:spLocks noGrp="1"/>
          </p:cNvSpPr>
          <p:nvPr/>
        </p:nvSpPr>
        <p:spPr>
          <a:xfrm>
            <a:off x="8477250" y="4838700"/>
            <a:ext cx="66675" cy="64770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192B16E-0C11-49CD-B89B-D209A24D16CA}"/>
              </a:ext>
            </a:extLst>
          </p:cNvPr>
          <p:cNvSpPr>
            <a:spLocks noGrp="1"/>
          </p:cNvSpPr>
          <p:nvPr/>
        </p:nvSpPr>
        <p:spPr>
          <a:xfrm>
            <a:off x="8648700" y="4943475"/>
            <a:ext cx="249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4AC396E-57EC-4B02-931F-BA9EFDC7E7B8}"/>
              </a:ext>
            </a:extLst>
          </p:cNvPr>
          <p:cNvSpPr>
            <a:spLocks noGrp="1"/>
          </p:cNvSpPr>
          <p:nvPr/>
        </p:nvSpPr>
        <p:spPr>
          <a:xfrm>
            <a:off x="8648700" y="5153025"/>
            <a:ext cx="2495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 approves a shortlist of POC-worthy solution candidates</a:t>
            </a:r>
          </a:p>
        </p:txBody>
      </p:sp>
    </p:spTree>
    <p:extLst>
      <p:ext uri="{BB962C8B-B14F-4D97-AF65-F5344CB8AC3E}">
        <p14:creationId xmlns:p14="http://schemas.microsoft.com/office/powerpoint/2010/main" val="93935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DECC3205-3089-4B4E-8097-E1B9316307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027D10-5A1A-44D4-A44D-FD076D34EC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463C4A5-047A-41F5-BFFC-1FEA3217CACF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C7B169F-57AA-479A-B666-70BAFD91AA86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0F62AA-3C4F-4A23-98FF-AAB4A9E55F4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Build a successful POC from the selected solution candidate.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669CA0-0377-4651-A6DC-A29F58FB06B4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This phase applies the V-model locally to the POC: requirements map to acceptance tests, design to integration tests, and code to unit tests.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84BFBD-4B2A-4B97-A00C-587D6C1A486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F9BAD-D7EB-4474-9CE0-9902E2795792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FB72E4-69B2-4656-9231-174BB45AF30A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2669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799BB-EFF6-4181-8AEC-AF844011EAFE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solution_candidates.md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3AEFC6-D4EA-44EF-AAA2-F4D9FA716CDE}"/>
              </a:ext>
            </a:extLst>
          </p:cNvPr>
          <p:cNvSpPr>
            <a:spLocks noGrp="1"/>
          </p:cNvSpPr>
          <p:nvPr/>
        </p:nvSpPr>
        <p:spPr>
          <a:xfrm>
            <a:off x="742950" y="25431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DB19A7-61C6-4496-AEDE-2E3FDFBC9AE8}"/>
              </a:ext>
            </a:extLst>
          </p:cNvPr>
          <p:cNvSpPr>
            <a:spLocks noGrp="1"/>
          </p:cNvSpPr>
          <p:nvPr/>
        </p:nvSpPr>
        <p:spPr>
          <a:xfrm>
            <a:off x="2876550" y="2457450"/>
            <a:ext cx="514350" cy="381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AE033-7EBD-448D-BBEA-DB62F3C465B7}"/>
              </a:ext>
            </a:extLst>
          </p:cNvPr>
          <p:cNvSpPr>
            <a:spLocks noGrp="1"/>
          </p:cNvSpPr>
          <p:nvPr/>
        </p:nvSpPr>
        <p:spPr>
          <a:xfrm>
            <a:off x="3390900" y="2133600"/>
            <a:ext cx="22669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6B53B8-ACFC-4EFA-8702-B46F1D361E02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405D8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05D8A"/>
                </a:solidFill>
                <a:latin typeface="Aptos Mono"/>
                <a:ea typeface="Aptos Mono"/>
                <a:cs typeface="Aptos Mono"/>
              </a:rPr>
              <a:t>selected_solution.md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46849B-C6DD-4517-8BF1-428D99133307}"/>
              </a:ext>
            </a:extLst>
          </p:cNvPr>
          <p:cNvSpPr>
            <a:spLocks noGrp="1"/>
          </p:cNvSpPr>
          <p:nvPr/>
        </p:nvSpPr>
        <p:spPr>
          <a:xfrm>
            <a:off x="3524250" y="25431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human approved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79B347-23C1-4A7F-892D-3F324DB2CAB3}"/>
              </a:ext>
            </a:extLst>
          </p:cNvPr>
          <p:cNvSpPr>
            <a:spLocks noGrp="1"/>
          </p:cNvSpPr>
          <p:nvPr/>
        </p:nvSpPr>
        <p:spPr>
          <a:xfrm>
            <a:off x="5657850" y="2457450"/>
            <a:ext cx="514350" cy="3810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58EF37-D20C-42AB-AFDB-26BE8BD4F123}"/>
              </a:ext>
            </a:extLst>
          </p:cNvPr>
          <p:cNvSpPr>
            <a:spLocks noGrp="1"/>
          </p:cNvSpPr>
          <p:nvPr/>
        </p:nvSpPr>
        <p:spPr>
          <a:xfrm>
            <a:off x="6172200" y="2133600"/>
            <a:ext cx="22669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DEF800-A1EE-4D82-84D6-3889F2BB8EAB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poc_scope.md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1248A6-F5AD-4CBD-AA80-0BDF4FCE1E46}"/>
              </a:ext>
            </a:extLst>
          </p:cNvPr>
          <p:cNvSpPr>
            <a:spLocks noGrp="1"/>
          </p:cNvSpPr>
          <p:nvPr/>
        </p:nvSpPr>
        <p:spPr>
          <a:xfrm>
            <a:off x="6305550" y="25431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4B374D-4730-4496-8DA0-A6E92AB69EF2}"/>
              </a:ext>
            </a:extLst>
          </p:cNvPr>
          <p:cNvSpPr>
            <a:spLocks noGrp="1"/>
          </p:cNvSpPr>
          <p:nvPr/>
        </p:nvSpPr>
        <p:spPr>
          <a:xfrm>
            <a:off x="8439150" y="2457450"/>
            <a:ext cx="514350" cy="3810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43A66F-874C-476C-BDF9-B281FB3A329D}"/>
              </a:ext>
            </a:extLst>
          </p:cNvPr>
          <p:cNvSpPr>
            <a:spLocks noGrp="1"/>
          </p:cNvSpPr>
          <p:nvPr/>
        </p:nvSpPr>
        <p:spPr>
          <a:xfrm>
            <a:off x="8953500" y="2133600"/>
            <a:ext cx="22669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BE8201-2B9E-439B-94FB-3664690EF853}"/>
              </a:ext>
            </a:extLst>
          </p:cNvPr>
          <p:cNvSpPr>
            <a:spLocks noGrp="1"/>
          </p:cNvSpPr>
          <p:nvPr/>
        </p:nvSpPr>
        <p:spPr>
          <a:xfrm>
            <a:off x="9086850" y="226695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requirements.md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3D30AB-C034-4610-B6DD-B3390F6BAFAD}"/>
              </a:ext>
            </a:extLst>
          </p:cNvPr>
          <p:cNvSpPr>
            <a:spLocks noGrp="1"/>
          </p:cNvSpPr>
          <p:nvPr/>
        </p:nvSpPr>
        <p:spPr>
          <a:xfrm>
            <a:off x="9086850" y="2543175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096B00-5BFC-48FB-B0C5-86CEF2C48861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22669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3D80ED-16FE-421A-AB90-5E11451C3143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design.md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DB85C6-94EC-4E8E-8BB8-37ECD6C45096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93171B-FA53-4053-BFAC-B2DBF60A77C4}"/>
              </a:ext>
            </a:extLst>
          </p:cNvPr>
          <p:cNvSpPr>
            <a:spLocks noGrp="1"/>
          </p:cNvSpPr>
          <p:nvPr/>
        </p:nvSpPr>
        <p:spPr>
          <a:xfrm>
            <a:off x="2876550" y="3838575"/>
            <a:ext cx="514350" cy="3810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5E9965-8F62-46CA-AC6C-CDF78B6A8C45}"/>
              </a:ext>
            </a:extLst>
          </p:cNvPr>
          <p:cNvSpPr>
            <a:spLocks noGrp="1"/>
          </p:cNvSpPr>
          <p:nvPr/>
        </p:nvSpPr>
        <p:spPr>
          <a:xfrm>
            <a:off x="3390900" y="3514725"/>
            <a:ext cx="22669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B8DAD0-FE6F-451A-AFC3-DBDF1967CFF6}"/>
              </a:ext>
            </a:extLst>
          </p:cNvPr>
          <p:cNvSpPr>
            <a:spLocks noGrp="1"/>
          </p:cNvSpPr>
          <p:nvPr/>
        </p:nvSpPr>
        <p:spPr>
          <a:xfrm>
            <a:off x="3524250" y="3648075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POC code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114996-C2D8-416F-A5EF-14E95B498A2D}"/>
              </a:ext>
            </a:extLst>
          </p:cNvPr>
          <p:cNvSpPr>
            <a:spLocks noGrp="1"/>
          </p:cNvSpPr>
          <p:nvPr/>
        </p:nvSpPr>
        <p:spPr>
          <a:xfrm>
            <a:off x="3524250" y="39243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4B8154-95A2-4F55-845C-6A4E2056E010}"/>
              </a:ext>
            </a:extLst>
          </p:cNvPr>
          <p:cNvSpPr>
            <a:spLocks noGrp="1"/>
          </p:cNvSpPr>
          <p:nvPr/>
        </p:nvSpPr>
        <p:spPr>
          <a:xfrm>
            <a:off x="5657850" y="3838575"/>
            <a:ext cx="514350" cy="3810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F9AE17-0096-4821-9FE4-F322ED06D5DD}"/>
              </a:ext>
            </a:extLst>
          </p:cNvPr>
          <p:cNvSpPr>
            <a:spLocks noGrp="1"/>
          </p:cNvSpPr>
          <p:nvPr/>
        </p:nvSpPr>
        <p:spPr>
          <a:xfrm>
            <a:off x="6172200" y="3514725"/>
            <a:ext cx="22669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99489D-4B1B-48F5-8FCD-A5B9B5A97646}"/>
              </a:ext>
            </a:extLst>
          </p:cNvPr>
          <p:cNvSpPr>
            <a:spLocks noGrp="1"/>
          </p:cNvSpPr>
          <p:nvPr/>
        </p:nvSpPr>
        <p:spPr>
          <a:xfrm>
            <a:off x="6305550" y="3648075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test_results.md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D37998-B389-49C5-B811-9ACA510C7B53}"/>
              </a:ext>
            </a:extLst>
          </p:cNvPr>
          <p:cNvSpPr>
            <a:spLocks noGrp="1"/>
          </p:cNvSpPr>
          <p:nvPr/>
        </p:nvSpPr>
        <p:spPr>
          <a:xfrm>
            <a:off x="6305550" y="39243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B526F2-6811-4445-8073-40B529242F65}"/>
              </a:ext>
            </a:extLst>
          </p:cNvPr>
          <p:cNvSpPr>
            <a:spLocks noGrp="1"/>
          </p:cNvSpPr>
          <p:nvPr/>
        </p:nvSpPr>
        <p:spPr>
          <a:xfrm>
            <a:off x="8439150" y="3838575"/>
            <a:ext cx="514350" cy="3810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1816EA-1299-44A4-B713-81B5C4B278D9}"/>
              </a:ext>
            </a:extLst>
          </p:cNvPr>
          <p:cNvSpPr>
            <a:spLocks noGrp="1"/>
          </p:cNvSpPr>
          <p:nvPr/>
        </p:nvSpPr>
        <p:spPr>
          <a:xfrm>
            <a:off x="8953500" y="3514725"/>
            <a:ext cx="22669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E54FF9-122F-4680-8B79-17AE7FF664AE}"/>
              </a:ext>
            </a:extLst>
          </p:cNvPr>
          <p:cNvSpPr>
            <a:spLocks noGrp="1"/>
          </p:cNvSpPr>
          <p:nvPr/>
        </p:nvSpPr>
        <p:spPr>
          <a:xfrm>
            <a:off x="9086850" y="3648075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4C8A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C8A5A"/>
                </a:solidFill>
                <a:latin typeface="Aptos Mono"/>
                <a:ea typeface="Aptos Mono"/>
                <a:cs typeface="Aptos Mono"/>
              </a:rPr>
              <a:t>validation_report.md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077A67-B23A-4FB6-8F86-3284A4BA2C84}"/>
              </a:ext>
            </a:extLst>
          </p:cNvPr>
          <p:cNvSpPr>
            <a:spLocks noGrp="1"/>
          </p:cNvSpPr>
          <p:nvPr/>
        </p:nvSpPr>
        <p:spPr>
          <a:xfrm>
            <a:off x="9086850" y="39243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your side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D9FBFA-FBCB-455F-8254-36607A7F141D}"/>
              </a:ext>
            </a:extLst>
          </p:cNvPr>
          <p:cNvSpPr>
            <a:spLocks noGrp="1"/>
          </p:cNvSpPr>
          <p:nvPr/>
        </p:nvSpPr>
        <p:spPr>
          <a:xfrm>
            <a:off x="10839450" y="2819400"/>
            <a:ext cx="38100" cy="704850"/>
          </a:xfrm>
          <a:prstGeom prst="rect">
            <a:avLst/>
          </a:prstGeom>
          <a:solidFill>
            <a:srgbClr val="D8D1C7"/>
          </a:solidFill>
          <a:ln w="0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6BAE79-6D47-4774-8537-004DF01E0B61}"/>
              </a:ext>
            </a:extLst>
          </p:cNvPr>
          <p:cNvSpPr>
            <a:spLocks noGrp="1"/>
          </p:cNvSpPr>
          <p:nvPr/>
        </p:nvSpPr>
        <p:spPr>
          <a:xfrm>
            <a:off x="9429750" y="3524250"/>
            <a:ext cx="1447800" cy="38100"/>
          </a:xfrm>
          <a:prstGeom prst="rect">
            <a:avLst/>
          </a:prstGeom>
          <a:solidFill>
            <a:srgbClr val="D8D1C7"/>
          </a:solidFill>
          <a:ln w="0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FFD289-742D-46CD-B961-824D6F023236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POC-LEVEL V-MODEL TESTS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A4F937-883A-4634-872F-A9BA7D89DCEB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2095500" cy="190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8A1CC9-BEAB-46A4-B087-CE7969E1B474}"/>
              </a:ext>
            </a:extLst>
          </p:cNvPr>
          <p:cNvSpPr>
            <a:spLocks noGrp="1"/>
          </p:cNvSpPr>
          <p:nvPr/>
        </p:nvSpPr>
        <p:spPr>
          <a:xfrm>
            <a:off x="876300" y="5353050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C0936E-A1B5-475A-BB44-BBC41CF8FC66}"/>
              </a:ext>
            </a:extLst>
          </p:cNvPr>
          <p:cNvSpPr>
            <a:spLocks noGrp="1"/>
          </p:cNvSpPr>
          <p:nvPr/>
        </p:nvSpPr>
        <p:spPr>
          <a:xfrm>
            <a:off x="1038225" y="5286375"/>
            <a:ext cx="44100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requirements -&gt; acceptance tests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CEFF44-0720-4904-A40F-10135A1DEE16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46A1EB6-0E46-48E5-BF2E-BE87D62F4EF5}"/>
              </a:ext>
            </a:extLst>
          </p:cNvPr>
          <p:cNvSpPr>
            <a:spLocks noGrp="1"/>
          </p:cNvSpPr>
          <p:nvPr/>
        </p:nvSpPr>
        <p:spPr>
          <a:xfrm>
            <a:off x="1038225" y="5553075"/>
            <a:ext cx="44100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design -&gt; integration tests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B331B0-B454-4C9D-B80A-578EB9A6E2A6}"/>
              </a:ext>
            </a:extLst>
          </p:cNvPr>
          <p:cNvSpPr>
            <a:spLocks noGrp="1"/>
          </p:cNvSpPr>
          <p:nvPr/>
        </p:nvSpPr>
        <p:spPr>
          <a:xfrm>
            <a:off x="876300" y="5886450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93D04FE-2558-4E25-BB0A-79B6D359CBB4}"/>
              </a:ext>
            </a:extLst>
          </p:cNvPr>
          <p:cNvSpPr>
            <a:spLocks noGrp="1"/>
          </p:cNvSpPr>
          <p:nvPr/>
        </p:nvSpPr>
        <p:spPr>
          <a:xfrm>
            <a:off x="1038225" y="5819775"/>
            <a:ext cx="44100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code -&gt; unit tests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81D167B-2772-422F-A693-4FFCC827F32C}"/>
              </a:ext>
            </a:extLst>
          </p:cNvPr>
          <p:cNvSpPr>
            <a:spLocks noGrp="1"/>
          </p:cNvSpPr>
          <p:nvPr/>
        </p:nvSpPr>
        <p:spPr>
          <a:xfrm>
            <a:off x="5905500" y="5353050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593DD1-1A00-4988-9E49-E77808CAFD9C}"/>
              </a:ext>
            </a:extLst>
          </p:cNvPr>
          <p:cNvSpPr>
            <a:spLocks noGrp="1"/>
          </p:cNvSpPr>
          <p:nvPr/>
        </p:nvSpPr>
        <p:spPr>
          <a:xfrm>
            <a:off x="6067425" y="5286375"/>
            <a:ext cx="47910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test agent runs after key implementation steps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A57BF8-E2F5-4F14-8A7A-B53AD877851B}"/>
              </a:ext>
            </a:extLst>
          </p:cNvPr>
          <p:cNvSpPr>
            <a:spLocks noGrp="1"/>
          </p:cNvSpPr>
          <p:nvPr/>
        </p:nvSpPr>
        <p:spPr>
          <a:xfrm>
            <a:off x="5905500" y="5619750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1639D7A-0603-4242-9359-5BFBCA8E012D}"/>
              </a:ext>
            </a:extLst>
          </p:cNvPr>
          <p:cNvSpPr>
            <a:spLocks noGrp="1"/>
          </p:cNvSpPr>
          <p:nvPr/>
        </p:nvSpPr>
        <p:spPr>
          <a:xfrm>
            <a:off x="6067425" y="5553075"/>
            <a:ext cx="47910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validation compares POC behavior to the selected claim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6AE13BC-DA09-4D09-BB1C-F2F0DC679A07}"/>
              </a:ext>
            </a:extLst>
          </p:cNvPr>
          <p:cNvSpPr>
            <a:spLocks noGrp="1"/>
          </p:cNvSpPr>
          <p:nvPr/>
        </p:nvSpPr>
        <p:spPr>
          <a:xfrm>
            <a:off x="5905500" y="5886450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03E63A-C137-4BCF-ABDB-821EE995A574}"/>
              </a:ext>
            </a:extLst>
          </p:cNvPr>
          <p:cNvSpPr>
            <a:spLocks noGrp="1"/>
          </p:cNvSpPr>
          <p:nvPr/>
        </p:nvSpPr>
        <p:spPr>
          <a:xfrm>
            <a:off x="6067425" y="5819775"/>
            <a:ext cx="47910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thought playback explains build decisions to humans</a:t>
            </a:r>
          </a:p>
        </p:txBody>
      </p:sp>
    </p:spTree>
    <p:extLst>
      <p:ext uri="{BB962C8B-B14F-4D97-AF65-F5344CB8AC3E}">
        <p14:creationId xmlns:p14="http://schemas.microsoft.com/office/powerpoint/2010/main" val="170294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E99646FD-0703-49A7-90D5-6C42E1314A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32F9E2-0486-42DE-B0C2-8B8BFD85FF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E1D67911-EEDB-42CB-A1F9-C4872FA4E1BF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859AFDC2-CE53-44FD-A770-E4CB61ED5208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78B47-51D4-4AE4-9B17-61B1A365066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Connect extraction and POC build, then expose hidden integration issues.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B4E7CB-EAD2-4BE5-9B56-2B3FE8B1F2F9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This phase proves the two parts work together and focuses on handoff failures, ambiguity, state recovery, and human intervention behavior.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14EA5D-56FD-40A5-9DFB-7EA81F816DA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8A54AE-1B64-4638-BC89-D2CCB48E0199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B1E5CD-972F-47F5-8C62-1881CA8B0658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3886200" cy="3524250"/>
          </a:xfrm>
          <a:prstGeom prst="rect">
            <a:avLst/>
          </a:prstGeom>
          <a:solidFill>
            <a:srgbClr val="FFFFFF"/>
          </a:solidFill>
          <a:ln w="14288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2BF8A1-574F-4F0F-997A-F5C71450316E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323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rPr>
              <a:t>Integration focus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DAC04-57D2-48C1-B5A7-E073F956DB6E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599326-D398-4F6C-AEBE-D9F6B6885897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handoff_contract.md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8F3898-D4B0-4A44-ABC1-7F4BE64A74C5}"/>
              </a:ext>
            </a:extLst>
          </p:cNvPr>
          <p:cNvSpPr>
            <a:spLocks noGrp="1"/>
          </p:cNvSpPr>
          <p:nvPr/>
        </p:nvSpPr>
        <p:spPr>
          <a:xfrm>
            <a:off x="2686050" y="28384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E4288-8917-4AD2-AF56-0DFBEC0144F8}"/>
              </a:ext>
            </a:extLst>
          </p:cNvPr>
          <p:cNvSpPr>
            <a:spLocks noGrp="1"/>
          </p:cNvSpPr>
          <p:nvPr/>
        </p:nvSpPr>
        <p:spPr>
          <a:xfrm>
            <a:off x="2800350" y="29146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E527D"/>
                </a:solidFill>
                <a:latin typeface="Aptos Mono"/>
                <a:ea typeface="Aptos Mono"/>
                <a:cs typeface="Aptos Mono"/>
              </a:rPr>
              <a:t>pipeline_run_log.md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2F2887-EEEE-4355-8F7D-9430A0764CD6}"/>
              </a:ext>
            </a:extLst>
          </p:cNvPr>
          <p:cNvSpPr>
            <a:spLocks noGrp="1"/>
          </p:cNvSpPr>
          <p:nvPr/>
        </p:nvSpPr>
        <p:spPr>
          <a:xfrm>
            <a:off x="933450" y="33337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23DE5A-5248-42F0-90D1-5E172ABBC9F6}"/>
              </a:ext>
            </a:extLst>
          </p:cNvPr>
          <p:cNvSpPr>
            <a:spLocks noGrp="1"/>
          </p:cNvSpPr>
          <p:nvPr/>
        </p:nvSpPr>
        <p:spPr>
          <a:xfrm>
            <a:off x="1047750" y="34099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failure_modes.md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D853E4-84AA-4590-9ECE-D331DDCA059E}"/>
              </a:ext>
            </a:extLst>
          </p:cNvPr>
          <p:cNvSpPr>
            <a:spLocks noGrp="1"/>
          </p:cNvSpPr>
          <p:nvPr/>
        </p:nvSpPr>
        <p:spPr>
          <a:xfrm>
            <a:off x="2686050" y="33337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E447C1-6B26-4188-831A-CB0A540FDBEE}"/>
              </a:ext>
            </a:extLst>
          </p:cNvPr>
          <p:cNvSpPr>
            <a:spLocks noGrp="1"/>
          </p:cNvSpPr>
          <p:nvPr/>
        </p:nvSpPr>
        <p:spPr>
          <a:xfrm>
            <a:off x="2800350" y="34099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integration_review.md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4286CE-9776-406F-939A-EA582D506D78}"/>
              </a:ext>
            </a:extLst>
          </p:cNvPr>
          <p:cNvSpPr>
            <a:spLocks noGrp="1"/>
          </p:cNvSpPr>
          <p:nvPr/>
        </p:nvSpPr>
        <p:spPr>
          <a:xfrm>
            <a:off x="933450" y="38290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20B735-196B-4F93-ADC3-E563C788BEC3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human_resume_tests.md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087F8F-B342-46D4-AA1C-4B8AB75C48B1}"/>
              </a:ext>
            </a:extLst>
          </p:cNvPr>
          <p:cNvSpPr>
            <a:spLocks noGrp="1"/>
          </p:cNvSpPr>
          <p:nvPr/>
        </p:nvSpPr>
        <p:spPr>
          <a:xfrm>
            <a:off x="2686050" y="38290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4E13E-B5E2-4DCE-9E25-E213D3CEBBC1}"/>
              </a:ext>
            </a:extLst>
          </p:cNvPr>
          <p:cNvSpPr>
            <a:spLocks noGrp="1"/>
          </p:cNvSpPr>
          <p:nvPr/>
        </p:nvSpPr>
        <p:spPr>
          <a:xfrm>
            <a:off x="2800350" y="39052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thought_playback.md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140CED-4EB6-40C8-B64D-53038284BCEE}"/>
              </a:ext>
            </a:extLst>
          </p:cNvPr>
          <p:cNvSpPr>
            <a:spLocks noGrp="1"/>
          </p:cNvSpPr>
          <p:nvPr/>
        </p:nvSpPr>
        <p:spPr>
          <a:xfrm>
            <a:off x="933450" y="4324350"/>
            <a:ext cx="1733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B8EAEF-E795-4E5C-80E7-FB8E2E3EBE4E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recovery_plan.md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7133AE-EF1C-4217-9936-B0F50E671759}"/>
              </a:ext>
            </a:extLst>
          </p:cNvPr>
          <p:cNvSpPr>
            <a:spLocks noGrp="1"/>
          </p:cNvSpPr>
          <p:nvPr/>
        </p:nvSpPr>
        <p:spPr>
          <a:xfrm>
            <a:off x="5067300" y="2076450"/>
            <a:ext cx="2952750" cy="3524250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CF06C9-918A-438A-8BAB-D8E8912D0BF0}"/>
              </a:ext>
            </a:extLst>
          </p:cNvPr>
          <p:cNvSpPr>
            <a:spLocks noGrp="1"/>
          </p:cNvSpPr>
          <p:nvPr/>
        </p:nvSpPr>
        <p:spPr>
          <a:xfrm>
            <a:off x="5334000" y="23431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Hidden issue routing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9836C8-DF5A-4159-A888-2B595A8A658F}"/>
              </a:ext>
            </a:extLst>
          </p:cNvPr>
          <p:cNvSpPr>
            <a:spLocks noGrp="1"/>
          </p:cNvSpPr>
          <p:nvPr/>
        </p:nvSpPr>
        <p:spPr>
          <a:xfrm>
            <a:off x="5619750" y="2895600"/>
            <a:ext cx="1847850" cy="26670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FD17FD-5EB1-4097-B2E6-98495BD34B00}"/>
              </a:ext>
            </a:extLst>
          </p:cNvPr>
          <p:cNvSpPr>
            <a:spLocks noGrp="1"/>
          </p:cNvSpPr>
          <p:nvPr/>
        </p:nvSpPr>
        <p:spPr>
          <a:xfrm>
            <a:off x="5695950" y="2952750"/>
            <a:ext cx="1695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full run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3003DE-039B-4B24-953E-D9AD17410FCF}"/>
              </a:ext>
            </a:extLst>
          </p:cNvPr>
          <p:cNvSpPr>
            <a:spLocks noGrp="1"/>
          </p:cNvSpPr>
          <p:nvPr/>
        </p:nvSpPr>
        <p:spPr>
          <a:xfrm>
            <a:off x="6524625" y="3162300"/>
            <a:ext cx="38100" cy="1809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C98237-1896-4BE4-AA11-5259D1587086}"/>
              </a:ext>
            </a:extLst>
          </p:cNvPr>
          <p:cNvSpPr>
            <a:spLocks noGrp="1"/>
          </p:cNvSpPr>
          <p:nvPr/>
        </p:nvSpPr>
        <p:spPr>
          <a:xfrm>
            <a:off x="5619750" y="3343275"/>
            <a:ext cx="1847850" cy="2667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885BBD-11D8-48CF-B5F9-2A869BB1CDC4}"/>
              </a:ext>
            </a:extLst>
          </p:cNvPr>
          <p:cNvSpPr>
            <a:spLocks noGrp="1"/>
          </p:cNvSpPr>
          <p:nvPr/>
        </p:nvSpPr>
        <p:spPr>
          <a:xfrm>
            <a:off x="5695950" y="3400425"/>
            <a:ext cx="1695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 issue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51F6B0-A7D3-422E-BD05-14E3CA941C16}"/>
              </a:ext>
            </a:extLst>
          </p:cNvPr>
          <p:cNvSpPr>
            <a:spLocks noGrp="1"/>
          </p:cNvSpPr>
          <p:nvPr/>
        </p:nvSpPr>
        <p:spPr>
          <a:xfrm>
            <a:off x="6524625" y="3609975"/>
            <a:ext cx="38100" cy="1809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ADBAB0-603F-40A0-9296-D6570031E2F7}"/>
              </a:ext>
            </a:extLst>
          </p:cNvPr>
          <p:cNvSpPr>
            <a:spLocks noGrp="1"/>
          </p:cNvSpPr>
          <p:nvPr/>
        </p:nvSpPr>
        <p:spPr>
          <a:xfrm>
            <a:off x="5619750" y="3790950"/>
            <a:ext cx="1847850" cy="266700"/>
          </a:xfrm>
          <a:prstGeom prst="rect">
            <a:avLst/>
          </a:prstGeom>
          <a:solidFill>
            <a:srgbClr val="B68A2E"/>
          </a:solidFill>
          <a:ln w="0">
            <a:solidFill>
              <a:srgbClr val="B6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4ADE63-2286-4072-8271-7036823499BF}"/>
              </a:ext>
            </a:extLst>
          </p:cNvPr>
          <p:cNvSpPr>
            <a:spLocks noGrp="1"/>
          </p:cNvSpPr>
          <p:nvPr/>
        </p:nvSpPr>
        <p:spPr>
          <a:xfrm>
            <a:off x="5695950" y="3848100"/>
            <a:ext cx="1695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revise contract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4C2AEC-B308-46F4-914D-D412A6479ED6}"/>
              </a:ext>
            </a:extLst>
          </p:cNvPr>
          <p:cNvSpPr>
            <a:spLocks noGrp="1"/>
          </p:cNvSpPr>
          <p:nvPr/>
        </p:nvSpPr>
        <p:spPr>
          <a:xfrm>
            <a:off x="6524625" y="4057650"/>
            <a:ext cx="38100" cy="1809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BD5F77-0D0A-42D0-90C2-DAA21B8BD631}"/>
              </a:ext>
            </a:extLst>
          </p:cNvPr>
          <p:cNvSpPr>
            <a:spLocks noGrp="1"/>
          </p:cNvSpPr>
          <p:nvPr/>
        </p:nvSpPr>
        <p:spPr>
          <a:xfrm>
            <a:off x="5619750" y="4238625"/>
            <a:ext cx="1847850" cy="26670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F17048-5C35-4909-AD38-6359A60B48E9}"/>
              </a:ext>
            </a:extLst>
          </p:cNvPr>
          <p:cNvSpPr>
            <a:spLocks noGrp="1"/>
          </p:cNvSpPr>
          <p:nvPr/>
        </p:nvSpPr>
        <p:spPr>
          <a:xfrm>
            <a:off x="5695950" y="4295775"/>
            <a:ext cx="1695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resume pipeline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058A37-D3D7-4D13-9C6E-C417465DE0F9}"/>
              </a:ext>
            </a:extLst>
          </p:cNvPr>
          <p:cNvSpPr>
            <a:spLocks noGrp="1"/>
          </p:cNvSpPr>
          <p:nvPr/>
        </p:nvSpPr>
        <p:spPr>
          <a:xfrm>
            <a:off x="6524625" y="4505325"/>
            <a:ext cx="38100" cy="1809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86690F-6BBB-4359-A0C8-A5037C085686}"/>
              </a:ext>
            </a:extLst>
          </p:cNvPr>
          <p:cNvSpPr>
            <a:spLocks noGrp="1"/>
          </p:cNvSpPr>
          <p:nvPr/>
        </p:nvSpPr>
        <p:spPr>
          <a:xfrm>
            <a:off x="5619750" y="4686300"/>
            <a:ext cx="1847850" cy="26670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EF276C-AC1C-4573-9F1C-3FB298C50646}"/>
              </a:ext>
            </a:extLst>
          </p:cNvPr>
          <p:cNvSpPr>
            <a:spLocks noGrp="1"/>
          </p:cNvSpPr>
          <p:nvPr/>
        </p:nvSpPr>
        <p:spPr>
          <a:xfrm>
            <a:off x="5695950" y="4743450"/>
            <a:ext cx="1695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rerun tests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EBDB60B-E906-4903-AC5E-0D4922D0A696}"/>
              </a:ext>
            </a:extLst>
          </p:cNvPr>
          <p:cNvSpPr>
            <a:spLocks noGrp="1"/>
          </p:cNvSpPr>
          <p:nvPr/>
        </p:nvSpPr>
        <p:spPr>
          <a:xfrm>
            <a:off x="8524875" y="20764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TESTS AND EXIT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FB784C-8693-4794-9E7D-D56A12057933}"/>
              </a:ext>
            </a:extLst>
          </p:cNvPr>
          <p:cNvSpPr>
            <a:spLocks noGrp="1"/>
          </p:cNvSpPr>
          <p:nvPr/>
        </p:nvSpPr>
        <p:spPr>
          <a:xfrm>
            <a:off x="8524875" y="2314575"/>
            <a:ext cx="2095500" cy="190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057C94-6EFC-43F1-B5CE-429645B32AAD}"/>
              </a:ext>
            </a:extLst>
          </p:cNvPr>
          <p:cNvSpPr>
            <a:spLocks noGrp="1"/>
          </p:cNvSpPr>
          <p:nvPr/>
        </p:nvSpPr>
        <p:spPr>
          <a:xfrm>
            <a:off x="8524875" y="252412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03EC81-17AA-4D72-9953-BB4EAF1AA86E}"/>
              </a:ext>
            </a:extLst>
          </p:cNvPr>
          <p:cNvSpPr>
            <a:spLocks noGrp="1"/>
          </p:cNvSpPr>
          <p:nvPr/>
        </p:nvSpPr>
        <p:spPr>
          <a:xfrm>
            <a:off x="8686800" y="2457450"/>
            <a:ext cx="2600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full paper-to-POC run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67BE27-6529-45A7-954B-75E5DC009086}"/>
              </a:ext>
            </a:extLst>
          </p:cNvPr>
          <p:cNvSpPr>
            <a:spLocks noGrp="1"/>
          </p:cNvSpPr>
          <p:nvPr/>
        </p:nvSpPr>
        <p:spPr>
          <a:xfrm>
            <a:off x="8524875" y="2838450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3F6BE97-5542-4717-8F0E-CD0F3C70B44B}"/>
              </a:ext>
            </a:extLst>
          </p:cNvPr>
          <p:cNvSpPr>
            <a:spLocks noGrp="1"/>
          </p:cNvSpPr>
          <p:nvPr/>
        </p:nvSpPr>
        <p:spPr>
          <a:xfrm>
            <a:off x="8686800" y="2771775"/>
            <a:ext cx="2600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ambiguous solution handoff test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6926178-5142-4A05-9324-399FC338F73E}"/>
              </a:ext>
            </a:extLst>
          </p:cNvPr>
          <p:cNvSpPr>
            <a:spLocks noGrp="1"/>
          </p:cNvSpPr>
          <p:nvPr/>
        </p:nvSpPr>
        <p:spPr>
          <a:xfrm>
            <a:off x="8524875" y="31527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4097C53-F632-4DBC-A55D-7AAFC79D5D72}"/>
              </a:ext>
            </a:extLst>
          </p:cNvPr>
          <p:cNvSpPr>
            <a:spLocks noGrp="1"/>
          </p:cNvSpPr>
          <p:nvPr/>
        </p:nvSpPr>
        <p:spPr>
          <a:xfrm>
            <a:off x="8686800" y="3086100"/>
            <a:ext cx="2600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failed build recovery test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C07339E-2ACD-47AA-8A6F-23AF7355E640}"/>
              </a:ext>
            </a:extLst>
          </p:cNvPr>
          <p:cNvSpPr>
            <a:spLocks noGrp="1"/>
          </p:cNvSpPr>
          <p:nvPr/>
        </p:nvSpPr>
        <p:spPr>
          <a:xfrm>
            <a:off x="8524875" y="3467100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273E59-83B1-4EC0-BF7E-062030EFBDCA}"/>
              </a:ext>
            </a:extLst>
          </p:cNvPr>
          <p:cNvSpPr>
            <a:spLocks noGrp="1"/>
          </p:cNvSpPr>
          <p:nvPr/>
        </p:nvSpPr>
        <p:spPr>
          <a:xfrm>
            <a:off x="8686800" y="3400425"/>
            <a:ext cx="2600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 edit and resume test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3A51205-08E0-478B-9B69-B719212ACF1C}"/>
              </a:ext>
            </a:extLst>
          </p:cNvPr>
          <p:cNvSpPr>
            <a:spLocks noGrp="1"/>
          </p:cNvSpPr>
          <p:nvPr/>
        </p:nvSpPr>
        <p:spPr>
          <a:xfrm>
            <a:off x="8524875" y="378142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238CCF-BB21-4A72-A1C0-E00A11CE159E}"/>
              </a:ext>
            </a:extLst>
          </p:cNvPr>
          <p:cNvSpPr>
            <a:spLocks noGrp="1"/>
          </p:cNvSpPr>
          <p:nvPr/>
        </p:nvSpPr>
        <p:spPr>
          <a:xfrm>
            <a:off x="8686800" y="3714750"/>
            <a:ext cx="2600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thought playback completeness check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AC4ECE6-E5E9-4565-8DB3-35A49E9943D5}"/>
              </a:ext>
            </a:extLst>
          </p:cNvPr>
          <p:cNvSpPr>
            <a:spLocks noGrp="1"/>
          </p:cNvSpPr>
          <p:nvPr/>
        </p:nvSpPr>
        <p:spPr>
          <a:xfrm>
            <a:off x="8524875" y="4810125"/>
            <a:ext cx="276225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7E052E-7F13-41E0-8506-6035D74C8FCD}"/>
              </a:ext>
            </a:extLst>
          </p:cNvPr>
          <p:cNvSpPr>
            <a:spLocks noGrp="1"/>
          </p:cNvSpPr>
          <p:nvPr/>
        </p:nvSpPr>
        <p:spPr>
          <a:xfrm>
            <a:off x="8524875" y="4810125"/>
            <a:ext cx="66675" cy="64770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BD936E0-3C20-42A3-87B5-CD7A94AD8814}"/>
              </a:ext>
            </a:extLst>
          </p:cNvPr>
          <p:cNvSpPr>
            <a:spLocks noGrp="1"/>
          </p:cNvSpPr>
          <p:nvPr/>
        </p:nvSpPr>
        <p:spPr>
          <a:xfrm>
            <a:off x="8696325" y="49149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BEC8F9F-D1D2-4FB5-8F51-8FDBC1064DA5}"/>
              </a:ext>
            </a:extLst>
          </p:cNvPr>
          <p:cNvSpPr>
            <a:spLocks noGrp="1"/>
          </p:cNvSpPr>
          <p:nvPr/>
        </p:nvSpPr>
        <p:spPr>
          <a:xfrm>
            <a:off x="8696325" y="51244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extraction output reliably feeds POC build without hidden context</a:t>
            </a:r>
          </a:p>
        </p:txBody>
      </p:sp>
    </p:spTree>
    <p:extLst>
      <p:ext uri="{BB962C8B-B14F-4D97-AF65-F5344CB8AC3E}">
        <p14:creationId xmlns:p14="http://schemas.microsoft.com/office/powerpoint/2010/main" val="350533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E218FD-4F77-4C39-8C7D-A23B0B0BD9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C39BAB-2038-4F62-A4DC-85C042EED3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5FDE1AEF-9772-4090-A395-E711B53002D9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DBDE0D24-AB78-4862-9491-89417371659B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6F19AD-D5B2-443D-B81A-F9CE2AF2551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Apply the V-model to the entire pipeline and implement skill safety checking.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CB937-0EAB-48CF-8C4D-92D42EAF5FF4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4 validates AI4Research as a system, not just one POC. It checks pipeline requirements, pipeline design, modules, skills, and human visibility.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52C0C1-F8DE-46F1-BD4A-7D1E4B9A5B8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60E141-6D13-4450-A4F4-28731F5C9C1A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59884D-038C-49A0-8B7B-57A1F21A589A}"/>
              </a:ext>
            </a:extLst>
          </p:cNvPr>
          <p:cNvSpPr>
            <a:spLocks noGrp="1"/>
          </p:cNvSpPr>
          <p:nvPr/>
        </p:nvSpPr>
        <p:spPr>
          <a:xfrm>
            <a:off x="628650" y="4267200"/>
            <a:ext cx="167640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7D4F65-A043-45D8-838A-B82580D00CCB}"/>
              </a:ext>
            </a:extLst>
          </p:cNvPr>
          <p:cNvSpPr>
            <a:spLocks noGrp="1"/>
          </p:cNvSpPr>
          <p:nvPr/>
        </p:nvSpPr>
        <p:spPr>
          <a:xfrm>
            <a:off x="628650" y="4267200"/>
            <a:ext cx="1676400" cy="66675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C2B981-CFA1-414C-9DED-355A0C7BCB04}"/>
              </a:ext>
            </a:extLst>
          </p:cNvPr>
          <p:cNvSpPr>
            <a:spLocks noGrp="1"/>
          </p:cNvSpPr>
          <p:nvPr/>
        </p:nvSpPr>
        <p:spPr>
          <a:xfrm>
            <a:off x="752475" y="4457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Pipeline acceptance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02F689-16F3-46DA-9C27-BC989CDFE55C}"/>
              </a:ext>
            </a:extLst>
          </p:cNvPr>
          <p:cNvSpPr>
            <a:spLocks noGrp="1"/>
          </p:cNvSpPr>
          <p:nvPr/>
        </p:nvSpPr>
        <p:spPr>
          <a:xfrm>
            <a:off x="752475" y="4676775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report to validated POC, with human gates and visible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BF07C7-2F3F-4175-91C0-4CB441C04808}"/>
              </a:ext>
            </a:extLst>
          </p:cNvPr>
          <p:cNvSpPr>
            <a:spLocks noGrp="1"/>
          </p:cNvSpPr>
          <p:nvPr/>
        </p:nvSpPr>
        <p:spPr>
          <a:xfrm>
            <a:off x="2305050" y="4733925"/>
            <a:ext cx="171450" cy="28575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250CEE-FDAD-4FA2-86CF-4087A7032635}"/>
              </a:ext>
            </a:extLst>
          </p:cNvPr>
          <p:cNvSpPr>
            <a:spLocks noGrp="1"/>
          </p:cNvSpPr>
          <p:nvPr/>
        </p:nvSpPr>
        <p:spPr>
          <a:xfrm>
            <a:off x="2476500" y="4267200"/>
            <a:ext cx="167640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5FAD36-B4B1-428B-B1D6-E8F13474AA4D}"/>
              </a:ext>
            </a:extLst>
          </p:cNvPr>
          <p:cNvSpPr>
            <a:spLocks noGrp="1"/>
          </p:cNvSpPr>
          <p:nvPr/>
        </p:nvSpPr>
        <p:spPr>
          <a:xfrm>
            <a:off x="2476500" y="4267200"/>
            <a:ext cx="1676400" cy="66675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D71A0C-3A19-4C46-97B7-FBE6952AA1CD}"/>
              </a:ext>
            </a:extLst>
          </p:cNvPr>
          <p:cNvSpPr>
            <a:spLocks noGrp="1"/>
          </p:cNvSpPr>
          <p:nvPr/>
        </p:nvSpPr>
        <p:spPr>
          <a:xfrm>
            <a:off x="2600325" y="4457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B7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7A78"/>
                </a:solidFill>
                <a:latin typeface="Aptos"/>
                <a:ea typeface="Aptos"/>
                <a:cs typeface="Aptos"/>
              </a:rPr>
              <a:t>Pipeline integration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8050B6-659E-472B-9FD9-B6689B11F41B}"/>
              </a:ext>
            </a:extLst>
          </p:cNvPr>
          <p:cNvSpPr>
            <a:spLocks noGrp="1"/>
          </p:cNvSpPr>
          <p:nvPr/>
        </p:nvSpPr>
        <p:spPr>
          <a:xfrm>
            <a:off x="2600325" y="4676775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extraction, selection, build, tests, review, and resume flow together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92883-8F98-4DAE-A88B-EB7551279967}"/>
              </a:ext>
            </a:extLst>
          </p:cNvPr>
          <p:cNvSpPr>
            <a:spLocks noGrp="1"/>
          </p:cNvSpPr>
          <p:nvPr/>
        </p:nvSpPr>
        <p:spPr>
          <a:xfrm>
            <a:off x="4152900" y="4733925"/>
            <a:ext cx="171450" cy="28575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CC0918-DAF1-42A3-96A8-1FAF5F98C7E2}"/>
              </a:ext>
            </a:extLst>
          </p:cNvPr>
          <p:cNvSpPr>
            <a:spLocks noGrp="1"/>
          </p:cNvSpPr>
          <p:nvPr/>
        </p:nvSpPr>
        <p:spPr>
          <a:xfrm>
            <a:off x="4324350" y="4267200"/>
            <a:ext cx="167640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FF58F7-5648-4D2F-B663-2BDF4098D3F0}"/>
              </a:ext>
            </a:extLst>
          </p:cNvPr>
          <p:cNvSpPr>
            <a:spLocks noGrp="1"/>
          </p:cNvSpPr>
          <p:nvPr/>
        </p:nvSpPr>
        <p:spPr>
          <a:xfrm>
            <a:off x="4324350" y="4267200"/>
            <a:ext cx="1676400" cy="66675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8561E0-CAB4-48B5-9A95-A2B5B77B906F}"/>
              </a:ext>
            </a:extLst>
          </p:cNvPr>
          <p:cNvSpPr>
            <a:spLocks noGrp="1"/>
          </p:cNvSpPr>
          <p:nvPr/>
        </p:nvSpPr>
        <p:spPr>
          <a:xfrm>
            <a:off x="4448175" y="4457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E5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527D"/>
                </a:solidFill>
                <a:latin typeface="Aptos"/>
                <a:ea typeface="Aptos"/>
                <a:cs typeface="Aptos"/>
              </a:rPr>
              <a:t>Pipeline modules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6B5864-8BD9-4FE7-ACE0-26A30636DEE9}"/>
              </a:ext>
            </a:extLst>
          </p:cNvPr>
          <p:cNvSpPr>
            <a:spLocks noGrp="1"/>
          </p:cNvSpPr>
          <p:nvPr/>
        </p:nvSpPr>
        <p:spPr>
          <a:xfrm>
            <a:off x="4448175" y="4676775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extractor, validator, builder, test agent, playback summarizer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B87047-2B81-4289-9D16-DA90482393FD}"/>
              </a:ext>
            </a:extLst>
          </p:cNvPr>
          <p:cNvSpPr>
            <a:spLocks noGrp="1"/>
          </p:cNvSpPr>
          <p:nvPr/>
        </p:nvSpPr>
        <p:spPr>
          <a:xfrm>
            <a:off x="6000750" y="4733925"/>
            <a:ext cx="171450" cy="28575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7E0FFE-1DDC-4BF5-AE68-9C97CD63D27C}"/>
              </a:ext>
            </a:extLst>
          </p:cNvPr>
          <p:cNvSpPr>
            <a:spLocks noGrp="1"/>
          </p:cNvSpPr>
          <p:nvPr/>
        </p:nvSpPr>
        <p:spPr>
          <a:xfrm>
            <a:off x="6172200" y="4267200"/>
            <a:ext cx="167640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B6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634F34-61F5-46FA-90C8-925396B51F06}"/>
              </a:ext>
            </a:extLst>
          </p:cNvPr>
          <p:cNvSpPr>
            <a:spLocks noGrp="1"/>
          </p:cNvSpPr>
          <p:nvPr/>
        </p:nvSpPr>
        <p:spPr>
          <a:xfrm>
            <a:off x="6172200" y="4267200"/>
            <a:ext cx="1676400" cy="66675"/>
          </a:xfrm>
          <a:prstGeom prst="rect">
            <a:avLst/>
          </a:prstGeom>
          <a:solidFill>
            <a:srgbClr val="B68A2E"/>
          </a:solidFill>
          <a:ln w="0">
            <a:solidFill>
              <a:srgbClr val="B6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7F688-30FC-4CFE-A33D-062637E4076E}"/>
              </a:ext>
            </a:extLst>
          </p:cNvPr>
          <p:cNvSpPr>
            <a:spLocks noGrp="1"/>
          </p:cNvSpPr>
          <p:nvPr/>
        </p:nvSpPr>
        <p:spPr>
          <a:xfrm>
            <a:off x="6296025" y="4457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B68A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68A2E"/>
                </a:solidFill>
                <a:latin typeface="Aptos"/>
                <a:ea typeface="Aptos"/>
                <a:cs typeface="Aptos"/>
              </a:rPr>
              <a:t>Skill safety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9A8F94-7C95-4711-9FF1-99AA16EB5E70}"/>
              </a:ext>
            </a:extLst>
          </p:cNvPr>
          <p:cNvSpPr>
            <a:spLocks noGrp="1"/>
          </p:cNvSpPr>
          <p:nvPr/>
        </p:nvSpPr>
        <p:spPr>
          <a:xfrm>
            <a:off x="6296025" y="4676775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manifest, permissions, tool side effects, and tests checked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9D3904-83CF-4AF4-9D5C-0A220EF11E2C}"/>
              </a:ext>
            </a:extLst>
          </p:cNvPr>
          <p:cNvSpPr>
            <a:spLocks noGrp="1"/>
          </p:cNvSpPr>
          <p:nvPr/>
        </p:nvSpPr>
        <p:spPr>
          <a:xfrm>
            <a:off x="7848600" y="4733925"/>
            <a:ext cx="171450" cy="28575"/>
          </a:xfrm>
          <a:prstGeom prst="rect">
            <a:avLst/>
          </a:prstGeom>
          <a:solidFill>
            <a:srgbClr val="B68A2E"/>
          </a:solidFill>
          <a:ln w="0">
            <a:solidFill>
              <a:srgbClr val="B6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1CF2A2-8935-4CD4-A034-C13E567ACB1D}"/>
              </a:ext>
            </a:extLst>
          </p:cNvPr>
          <p:cNvSpPr>
            <a:spLocks noGrp="1"/>
          </p:cNvSpPr>
          <p:nvPr/>
        </p:nvSpPr>
        <p:spPr>
          <a:xfrm>
            <a:off x="8020050" y="4267200"/>
            <a:ext cx="167640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87FB81-7FE5-4556-A6F2-8F0174213A2C}"/>
              </a:ext>
            </a:extLst>
          </p:cNvPr>
          <p:cNvSpPr>
            <a:spLocks noGrp="1"/>
          </p:cNvSpPr>
          <p:nvPr/>
        </p:nvSpPr>
        <p:spPr>
          <a:xfrm>
            <a:off x="8020050" y="4267200"/>
            <a:ext cx="1676400" cy="66675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311AC6-9D93-4CD2-A9F5-4212BFBF9922}"/>
              </a:ext>
            </a:extLst>
          </p:cNvPr>
          <p:cNvSpPr>
            <a:spLocks noGrp="1"/>
          </p:cNvSpPr>
          <p:nvPr/>
        </p:nvSpPr>
        <p:spPr>
          <a:xfrm>
            <a:off x="8143875" y="4457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Thought playback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C38838-9CA0-4CF5-8E54-D27A5DA86191}"/>
              </a:ext>
            </a:extLst>
          </p:cNvPr>
          <p:cNvSpPr>
            <a:spLocks noGrp="1"/>
          </p:cNvSpPr>
          <p:nvPr/>
        </p:nvSpPr>
        <p:spPr>
          <a:xfrm>
            <a:off x="8143875" y="4676775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human-readable summaries preserved at each gate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57A3F2-ADF5-47BF-A46A-D3A5444A4D65}"/>
              </a:ext>
            </a:extLst>
          </p:cNvPr>
          <p:cNvSpPr>
            <a:spLocks noGrp="1"/>
          </p:cNvSpPr>
          <p:nvPr/>
        </p:nvSpPr>
        <p:spPr>
          <a:xfrm>
            <a:off x="9696450" y="4733925"/>
            <a:ext cx="171450" cy="28575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399D97-6F4D-4B21-B6E9-89E337074CAA}"/>
              </a:ext>
            </a:extLst>
          </p:cNvPr>
          <p:cNvSpPr>
            <a:spLocks noGrp="1"/>
          </p:cNvSpPr>
          <p:nvPr/>
        </p:nvSpPr>
        <p:spPr>
          <a:xfrm>
            <a:off x="9867900" y="4267200"/>
            <a:ext cx="167640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1DED48-88F4-4241-9260-B15E02000881}"/>
              </a:ext>
            </a:extLst>
          </p:cNvPr>
          <p:cNvSpPr>
            <a:spLocks noGrp="1"/>
          </p:cNvSpPr>
          <p:nvPr/>
        </p:nvSpPr>
        <p:spPr>
          <a:xfrm>
            <a:off x="9867900" y="4267200"/>
            <a:ext cx="1676400" cy="66675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FD60AE-9F49-4CEF-A988-575ED0745716}"/>
              </a:ext>
            </a:extLst>
          </p:cNvPr>
          <p:cNvSpPr>
            <a:spLocks noGrp="1"/>
          </p:cNvSpPr>
          <p:nvPr/>
        </p:nvSpPr>
        <p:spPr>
          <a:xfrm>
            <a:off x="9991725" y="4457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Final review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280E8E-B53B-4A9E-BCCB-4391002A10C8}"/>
              </a:ext>
            </a:extLst>
          </p:cNvPr>
          <p:cNvSpPr>
            <a:spLocks noGrp="1"/>
          </p:cNvSpPr>
          <p:nvPr/>
        </p:nvSpPr>
        <p:spPr>
          <a:xfrm>
            <a:off x="9991725" y="4676775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accept, revise, or reject the pipeline with evidence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0B02244-0407-42AB-8F7F-69B0B57D5DA0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405D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05D8A"/>
                </a:solidFill>
                <a:latin typeface="Aptos"/>
                <a:ea typeface="Aptos"/>
                <a:cs typeface="Aptos"/>
              </a:rPr>
              <a:t>BUILD ADDITIONS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2B7471-FB26-48B8-82D2-46E5F88B42B1}"/>
              </a:ext>
            </a:extLst>
          </p:cNvPr>
          <p:cNvSpPr>
            <a:spLocks noGrp="1"/>
          </p:cNvSpPr>
          <p:nvPr/>
        </p:nvSpPr>
        <p:spPr>
          <a:xfrm>
            <a:off x="838200" y="2200275"/>
            <a:ext cx="2095500" cy="190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78413-AD38-44B2-B44D-3996A01652BF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A498D1-15A1-4E8F-90F7-60962C31605A}"/>
              </a:ext>
            </a:extLst>
          </p:cNvPr>
          <p:cNvSpPr>
            <a:spLocks noGrp="1"/>
          </p:cNvSpPr>
          <p:nvPr/>
        </p:nvSpPr>
        <p:spPr>
          <a:xfrm>
            <a:off x="1000125" y="2343150"/>
            <a:ext cx="38385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pipeline-level V-model harness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06E82A-D9BF-46B8-9A3B-650281D7B386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38414E-2D87-4CCD-BA12-5594F05A01EC}"/>
              </a:ext>
            </a:extLst>
          </p:cNvPr>
          <p:cNvSpPr>
            <a:spLocks noGrp="1"/>
          </p:cNvSpPr>
          <p:nvPr/>
        </p:nvSpPr>
        <p:spPr>
          <a:xfrm>
            <a:off x="1000125" y="2638425"/>
            <a:ext cx="38385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skill safety checker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DF7A93-7994-46A6-8898-1892368155FB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E07415-E4BD-425A-9789-41E015FF5CFB}"/>
              </a:ext>
            </a:extLst>
          </p:cNvPr>
          <p:cNvSpPr>
            <a:spLocks noGrp="1"/>
          </p:cNvSpPr>
          <p:nvPr/>
        </p:nvSpPr>
        <p:spPr>
          <a:xfrm>
            <a:off x="1000125" y="2933700"/>
            <a:ext cx="38385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agent playback verifier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C2BF15-D850-47BB-ADDA-F1424942B066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57150" cy="571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DB37D55-B171-47ED-8DCD-8BB3638B6AD3}"/>
              </a:ext>
            </a:extLst>
          </p:cNvPr>
          <p:cNvSpPr>
            <a:spLocks noGrp="1"/>
          </p:cNvSpPr>
          <p:nvPr/>
        </p:nvSpPr>
        <p:spPr>
          <a:xfrm>
            <a:off x="1000125" y="3228975"/>
            <a:ext cx="38385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system acceptance suite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663590-04CF-4C75-B914-D2E669C3DFB7}"/>
              </a:ext>
            </a:extLst>
          </p:cNvPr>
          <p:cNvSpPr>
            <a:spLocks noGrp="1"/>
          </p:cNvSpPr>
          <p:nvPr/>
        </p:nvSpPr>
        <p:spPr>
          <a:xfrm>
            <a:off x="7524750" y="19621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EXIT CRITERIA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41DD038-4174-4A36-90BD-9E55F572B6E0}"/>
              </a:ext>
            </a:extLst>
          </p:cNvPr>
          <p:cNvSpPr>
            <a:spLocks noGrp="1"/>
          </p:cNvSpPr>
          <p:nvPr/>
        </p:nvSpPr>
        <p:spPr>
          <a:xfrm>
            <a:off x="7524750" y="2200275"/>
            <a:ext cx="2095500" cy="1905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FFF510D-6BFC-4345-89E3-03CB52E118C8}"/>
              </a:ext>
            </a:extLst>
          </p:cNvPr>
          <p:cNvSpPr>
            <a:spLocks noGrp="1"/>
          </p:cNvSpPr>
          <p:nvPr/>
        </p:nvSpPr>
        <p:spPr>
          <a:xfrm>
            <a:off x="7524750" y="2409825"/>
            <a:ext cx="57150" cy="5715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93E7362-BEC8-4720-80B0-43124FC7D498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32670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 acceptance tests pass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F0B0DA0-AAFC-42DB-B4DF-D35A9EB0DE39}"/>
              </a:ext>
            </a:extLst>
          </p:cNvPr>
          <p:cNvSpPr>
            <a:spLocks noGrp="1"/>
          </p:cNvSpPr>
          <p:nvPr/>
        </p:nvSpPr>
        <p:spPr>
          <a:xfrm>
            <a:off x="7524750" y="2705100"/>
            <a:ext cx="57150" cy="5715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72DF554-4294-4E4F-9400-C7DA9F14A3C3}"/>
              </a:ext>
            </a:extLst>
          </p:cNvPr>
          <p:cNvSpPr>
            <a:spLocks noGrp="1"/>
          </p:cNvSpPr>
          <p:nvPr/>
        </p:nvSpPr>
        <p:spPr>
          <a:xfrm>
            <a:off x="7686675" y="2638425"/>
            <a:ext cx="32670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integration handoffs are verified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7F6826B-10AF-47D0-AA90-BEED34558FC2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57150" cy="5715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EFF28B-A82E-4038-B5D4-14403D4AC34E}"/>
              </a:ext>
            </a:extLst>
          </p:cNvPr>
          <p:cNvSpPr>
            <a:spLocks noGrp="1"/>
          </p:cNvSpPr>
          <p:nvPr/>
        </p:nvSpPr>
        <p:spPr>
          <a:xfrm>
            <a:off x="7686675" y="2933700"/>
            <a:ext cx="32670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unsafe skills are blocked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C80CD8-386A-4F66-BB5E-50E7ABA0CCE2}"/>
              </a:ext>
            </a:extLst>
          </p:cNvPr>
          <p:cNvSpPr>
            <a:spLocks noGrp="1"/>
          </p:cNvSpPr>
          <p:nvPr/>
        </p:nvSpPr>
        <p:spPr>
          <a:xfrm>
            <a:off x="7524750" y="3295650"/>
            <a:ext cx="57150" cy="5715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9B7EE6-D40A-4BE0-9054-4C50F39C1DD9}"/>
              </a:ext>
            </a:extLst>
          </p:cNvPr>
          <p:cNvSpPr>
            <a:spLocks noGrp="1"/>
          </p:cNvSpPr>
          <p:nvPr/>
        </p:nvSpPr>
        <p:spPr>
          <a:xfrm>
            <a:off x="7686675" y="3228975"/>
            <a:ext cx="32670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 playback and approvals are recorded</a:t>
            </a:r>
          </a:p>
        </p:txBody>
      </p:sp>
    </p:spTree>
    <p:extLst>
      <p:ext uri="{BB962C8B-B14F-4D97-AF65-F5344CB8AC3E}">
        <p14:creationId xmlns:p14="http://schemas.microsoft.com/office/powerpoint/2010/main" val="165298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1157EB71-D017-4457-BCEC-AC66364B49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BF6F7-040C-4D3A-AB01-32AEB68755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16BC8011-56D1-435B-9A2A-7376336128E4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B68A2E"/>
          </a:solidFill>
          <a:ln w="0">
            <a:solidFill>
              <a:srgbClr val="B6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7C431ED-AEDA-44E8-89A8-6CC4150F5737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CROSS-PHASE CONTROLS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375EE-0E1C-4118-827A-9A316AF5BF9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Human intervention, visible AI outputs, testing agents, thought playback, and skill safety run across every phase.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8B1F6-B8DD-4CE0-94FA-08FBD07EC9DB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main stream job moves forward, while side rails continuously test, audit, and make agent reasoning visible.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E7CCF8-B278-482C-B049-95AF14BEE33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AD208C-6D06-46BF-9E4D-85AF7F960864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F413BF-3303-4503-9ED2-87C242636848}"/>
              </a:ext>
            </a:extLst>
          </p:cNvPr>
          <p:cNvSpPr>
            <a:spLocks noGrp="1"/>
          </p:cNvSpPr>
          <p:nvPr/>
        </p:nvSpPr>
        <p:spPr>
          <a:xfrm>
            <a:off x="3067050" y="2000250"/>
            <a:ext cx="1581150" cy="2857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DDDF63-9D9C-40B3-A633-8DCD657CA648}"/>
              </a:ext>
            </a:extLst>
          </p:cNvPr>
          <p:cNvSpPr>
            <a:spLocks noGrp="1"/>
          </p:cNvSpPr>
          <p:nvPr/>
        </p:nvSpPr>
        <p:spPr>
          <a:xfrm>
            <a:off x="3162300" y="2047875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gate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EC0A71-257F-422F-A510-125B4A38A8E7}"/>
              </a:ext>
            </a:extLst>
          </p:cNvPr>
          <p:cNvSpPr>
            <a:spLocks noGrp="1"/>
          </p:cNvSpPr>
          <p:nvPr/>
        </p:nvSpPr>
        <p:spPr>
          <a:xfrm>
            <a:off x="5019675" y="2000250"/>
            <a:ext cx="1581150" cy="285750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47C657-BF8F-4FEA-933B-E5CF88C1BB40}"/>
              </a:ext>
            </a:extLst>
          </p:cNvPr>
          <p:cNvSpPr>
            <a:spLocks noGrp="1"/>
          </p:cNvSpPr>
          <p:nvPr/>
        </p:nvSpPr>
        <p:spPr>
          <a:xfrm>
            <a:off x="5114925" y="2047875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Visible AI 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7707D-9BAD-4931-B397-B47C63E68E31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581150" cy="2857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BBA4F0-7E03-4B49-AAF8-698E446954D4}"/>
              </a:ext>
            </a:extLst>
          </p:cNvPr>
          <p:cNvSpPr>
            <a:spLocks noGrp="1"/>
          </p:cNvSpPr>
          <p:nvPr/>
        </p:nvSpPr>
        <p:spPr>
          <a:xfrm>
            <a:off x="7067550" y="2047875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Testing agents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D0566-481B-4641-A5EF-7C913E3BBE46}"/>
              </a:ext>
            </a:extLst>
          </p:cNvPr>
          <p:cNvSpPr>
            <a:spLocks noGrp="1"/>
          </p:cNvSpPr>
          <p:nvPr/>
        </p:nvSpPr>
        <p:spPr>
          <a:xfrm>
            <a:off x="8924925" y="2000250"/>
            <a:ext cx="1581150" cy="285750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4BFF34-1738-43C9-89DA-0DE55EEB0087}"/>
              </a:ext>
            </a:extLst>
          </p:cNvPr>
          <p:cNvSpPr>
            <a:spLocks noGrp="1"/>
          </p:cNvSpPr>
          <p:nvPr/>
        </p:nvSpPr>
        <p:spPr>
          <a:xfrm>
            <a:off x="9020175" y="2047875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Thought + safety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384BC2-61CA-48E2-B65B-706D9C1E1FA6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B7A7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B7A78"/>
                </a:solidFill>
                <a:latin typeface="Aptos Display"/>
                <a:ea typeface="Aptos Display"/>
                <a:cs typeface="Aptos Display"/>
              </a:rPr>
              <a:t>Phase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0D7F7E-6066-4F3E-9E7D-93857F819DEC}"/>
              </a:ext>
            </a:extLst>
          </p:cNvPr>
          <p:cNvSpPr>
            <a:spLocks noGrp="1"/>
          </p:cNvSpPr>
          <p:nvPr/>
        </p:nvSpPr>
        <p:spPr>
          <a:xfrm>
            <a:off x="2362200" y="2800350"/>
            <a:ext cx="457200" cy="28575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67B238-83B5-44CB-B95C-2E3480A3E7C3}"/>
              </a:ext>
            </a:extLst>
          </p:cNvPr>
          <p:cNvSpPr>
            <a:spLocks noGrp="1"/>
          </p:cNvSpPr>
          <p:nvPr/>
        </p:nvSpPr>
        <p:spPr>
          <a:xfrm>
            <a:off x="3067050" y="2476500"/>
            <a:ext cx="1581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7C4769-10CB-4E57-B9C0-EE96145B7D76}"/>
              </a:ext>
            </a:extLst>
          </p:cNvPr>
          <p:cNvSpPr>
            <a:spLocks noGrp="1"/>
          </p:cNvSpPr>
          <p:nvPr/>
        </p:nvSpPr>
        <p:spPr>
          <a:xfrm>
            <a:off x="3181350" y="26003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approve candidate shortlist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060670-AEA7-4307-9C18-F6E9C01A81B2}"/>
              </a:ext>
            </a:extLst>
          </p:cNvPr>
          <p:cNvSpPr>
            <a:spLocks noGrp="1"/>
          </p:cNvSpPr>
          <p:nvPr/>
        </p:nvSpPr>
        <p:spPr>
          <a:xfrm>
            <a:off x="5019675" y="2476500"/>
            <a:ext cx="1581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EB46AA-F96C-43A8-9303-406443E442F6}"/>
              </a:ext>
            </a:extLst>
          </p:cNvPr>
          <p:cNvSpPr>
            <a:spLocks noGrp="1"/>
          </p:cNvSpPr>
          <p:nvPr/>
        </p:nvSpPr>
        <p:spPr>
          <a:xfrm>
            <a:off x="5133975" y="26003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analysis + candidates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3D6795-58AB-419D-B01B-2791E018815D}"/>
              </a:ext>
            </a:extLst>
          </p:cNvPr>
          <p:cNvSpPr>
            <a:spLocks noGrp="1"/>
          </p:cNvSpPr>
          <p:nvPr/>
        </p:nvSpPr>
        <p:spPr>
          <a:xfrm>
            <a:off x="6972300" y="2476500"/>
            <a:ext cx="1581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F4EB0E-9DD0-4189-97E7-274FE7672AA6}"/>
              </a:ext>
            </a:extLst>
          </p:cNvPr>
          <p:cNvSpPr>
            <a:spLocks noGrp="1"/>
          </p:cNvSpPr>
          <p:nvPr/>
        </p:nvSpPr>
        <p:spPr>
          <a:xfrm>
            <a:off x="7086600" y="26003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extraction tests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859812-59E1-4DF7-B31A-CC448968E468}"/>
              </a:ext>
            </a:extLst>
          </p:cNvPr>
          <p:cNvSpPr>
            <a:spLocks noGrp="1"/>
          </p:cNvSpPr>
          <p:nvPr/>
        </p:nvSpPr>
        <p:spPr>
          <a:xfrm>
            <a:off x="8924925" y="2476500"/>
            <a:ext cx="1581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D0ADAB-9702-4E2B-9BCD-7BBB1CF2FE27}"/>
              </a:ext>
            </a:extLst>
          </p:cNvPr>
          <p:cNvSpPr>
            <a:spLocks noGrp="1"/>
          </p:cNvSpPr>
          <p:nvPr/>
        </p:nvSpPr>
        <p:spPr>
          <a:xfrm>
            <a:off x="9039225" y="26003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claim trace playback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08536F-4B6B-4E16-817A-85518D8E0651}"/>
              </a:ext>
            </a:extLst>
          </p:cNvPr>
          <p:cNvSpPr>
            <a:spLocks noGrp="1"/>
          </p:cNvSpPr>
          <p:nvPr/>
        </p:nvSpPr>
        <p:spPr>
          <a:xfrm>
            <a:off x="762000" y="33718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rPr>
              <a:t>Phase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894753-124E-49A7-ACEF-E4772197C4E5}"/>
              </a:ext>
            </a:extLst>
          </p:cNvPr>
          <p:cNvSpPr>
            <a:spLocks noGrp="1"/>
          </p:cNvSpPr>
          <p:nvPr/>
        </p:nvSpPr>
        <p:spPr>
          <a:xfrm>
            <a:off x="2362200" y="3524250"/>
            <a:ext cx="457200" cy="28575"/>
          </a:xfrm>
          <a:prstGeom prst="rect">
            <a:avLst/>
          </a:prstGeom>
          <a:solidFill>
            <a:srgbClr val="405D8A"/>
          </a:solidFill>
          <a:ln w="0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DEA2FB-27F7-4D6F-AF65-8D4F20D4EE9F}"/>
              </a:ext>
            </a:extLst>
          </p:cNvPr>
          <p:cNvSpPr>
            <a:spLocks noGrp="1"/>
          </p:cNvSpPr>
          <p:nvPr/>
        </p:nvSpPr>
        <p:spPr>
          <a:xfrm>
            <a:off x="3067050" y="3200400"/>
            <a:ext cx="1581150" cy="514350"/>
          </a:xfrm>
          <a:prstGeom prst="rect">
            <a:avLst/>
          </a:prstGeom>
          <a:solidFill>
            <a:srgbClr val="ECE6DC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B9DD14-8F55-427F-95FA-44747B755622}"/>
              </a:ext>
            </a:extLst>
          </p:cNvPr>
          <p:cNvSpPr>
            <a:spLocks noGrp="1"/>
          </p:cNvSpPr>
          <p:nvPr/>
        </p:nvSpPr>
        <p:spPr>
          <a:xfrm>
            <a:off x="3181350" y="33242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approve selected solution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235796-5CE6-4F4D-B97B-EF591E7A7FBE}"/>
              </a:ext>
            </a:extLst>
          </p:cNvPr>
          <p:cNvSpPr>
            <a:spLocks noGrp="1"/>
          </p:cNvSpPr>
          <p:nvPr/>
        </p:nvSpPr>
        <p:spPr>
          <a:xfrm>
            <a:off x="5019675" y="3200400"/>
            <a:ext cx="1581150" cy="514350"/>
          </a:xfrm>
          <a:prstGeom prst="rect">
            <a:avLst/>
          </a:prstGeom>
          <a:solidFill>
            <a:srgbClr val="ECE6DC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232C17-08A4-48B5-987F-CE7270FB44C7}"/>
              </a:ext>
            </a:extLst>
          </p:cNvPr>
          <p:cNvSpPr>
            <a:spLocks noGrp="1"/>
          </p:cNvSpPr>
          <p:nvPr/>
        </p:nvSpPr>
        <p:spPr>
          <a:xfrm>
            <a:off x="5133975" y="33242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design + POC diffs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6BF690-9F5C-4CAB-A7CE-C37D522EEE53}"/>
              </a:ext>
            </a:extLst>
          </p:cNvPr>
          <p:cNvSpPr>
            <a:spLocks noGrp="1"/>
          </p:cNvSpPr>
          <p:nvPr/>
        </p:nvSpPr>
        <p:spPr>
          <a:xfrm>
            <a:off x="6972300" y="3200400"/>
            <a:ext cx="1581150" cy="514350"/>
          </a:xfrm>
          <a:prstGeom prst="rect">
            <a:avLst/>
          </a:prstGeom>
          <a:solidFill>
            <a:srgbClr val="ECE6DC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063D36-D7E5-4F19-B6FE-DDF23B47B9ED}"/>
              </a:ext>
            </a:extLst>
          </p:cNvPr>
          <p:cNvSpPr>
            <a:spLocks noGrp="1"/>
          </p:cNvSpPr>
          <p:nvPr/>
        </p:nvSpPr>
        <p:spPr>
          <a:xfrm>
            <a:off x="7086600" y="33242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 V-model tests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15F1FF-5B8F-4084-A403-80C0D491B857}"/>
              </a:ext>
            </a:extLst>
          </p:cNvPr>
          <p:cNvSpPr>
            <a:spLocks noGrp="1"/>
          </p:cNvSpPr>
          <p:nvPr/>
        </p:nvSpPr>
        <p:spPr>
          <a:xfrm>
            <a:off x="8924925" y="3200400"/>
            <a:ext cx="1581150" cy="514350"/>
          </a:xfrm>
          <a:prstGeom prst="rect">
            <a:avLst/>
          </a:prstGeom>
          <a:solidFill>
            <a:srgbClr val="ECE6DC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48A6B4-F8FD-4C4E-B6B7-7124BC66AA5D}"/>
              </a:ext>
            </a:extLst>
          </p:cNvPr>
          <p:cNvSpPr>
            <a:spLocks noGrp="1"/>
          </p:cNvSpPr>
          <p:nvPr/>
        </p:nvSpPr>
        <p:spPr>
          <a:xfrm>
            <a:off x="9039225" y="33242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build thought playback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31F29B-6837-4B4B-97D1-24054873521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E527D"/>
                </a:solidFill>
                <a:latin typeface="Aptos Display"/>
                <a:ea typeface="Aptos Display"/>
                <a:cs typeface="Aptos Display"/>
              </a:rPr>
              <a:t>Phase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218CC5-8E42-48CF-81E9-6F06AF3FC143}"/>
              </a:ext>
            </a:extLst>
          </p:cNvPr>
          <p:cNvSpPr>
            <a:spLocks noGrp="1"/>
          </p:cNvSpPr>
          <p:nvPr/>
        </p:nvSpPr>
        <p:spPr>
          <a:xfrm>
            <a:off x="2362200" y="4248150"/>
            <a:ext cx="457200" cy="28575"/>
          </a:xfrm>
          <a:prstGeom prst="rect">
            <a:avLst/>
          </a:prstGeom>
          <a:solidFill>
            <a:srgbClr val="6E527D"/>
          </a:solidFill>
          <a:ln w="0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D5E82E-A467-4CED-9E18-0DC9DDC5FBD4}"/>
              </a:ext>
            </a:extLst>
          </p:cNvPr>
          <p:cNvSpPr>
            <a:spLocks noGrp="1"/>
          </p:cNvSpPr>
          <p:nvPr/>
        </p:nvSpPr>
        <p:spPr>
          <a:xfrm>
            <a:off x="3067050" y="3924300"/>
            <a:ext cx="1581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1EEB77-A0FE-4C85-96EA-435EAD1756C1}"/>
              </a:ext>
            </a:extLst>
          </p:cNvPr>
          <p:cNvSpPr>
            <a:spLocks noGrp="1"/>
          </p:cNvSpPr>
          <p:nvPr/>
        </p:nvSpPr>
        <p:spPr>
          <a:xfrm>
            <a:off x="3181350" y="40481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approve handoff fixes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F0DFEA-6CB1-4087-94CA-41B550DBE615}"/>
              </a:ext>
            </a:extLst>
          </p:cNvPr>
          <p:cNvSpPr>
            <a:spLocks noGrp="1"/>
          </p:cNvSpPr>
          <p:nvPr/>
        </p:nvSpPr>
        <p:spPr>
          <a:xfrm>
            <a:off x="5019675" y="3924300"/>
            <a:ext cx="1581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BB1EE25-48C7-4CDB-8F53-68A628B49A59}"/>
              </a:ext>
            </a:extLst>
          </p:cNvPr>
          <p:cNvSpPr>
            <a:spLocks noGrp="1"/>
          </p:cNvSpPr>
          <p:nvPr/>
        </p:nvSpPr>
        <p:spPr>
          <a:xfrm>
            <a:off x="5133975" y="40481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run logs + failures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E4E0A4-6C28-4E71-8689-25577D4CE7C7}"/>
              </a:ext>
            </a:extLst>
          </p:cNvPr>
          <p:cNvSpPr>
            <a:spLocks noGrp="1"/>
          </p:cNvSpPr>
          <p:nvPr/>
        </p:nvSpPr>
        <p:spPr>
          <a:xfrm>
            <a:off x="6972300" y="3924300"/>
            <a:ext cx="1581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3D53A9-6690-4F25-9FD7-63D120E58D0A}"/>
              </a:ext>
            </a:extLst>
          </p:cNvPr>
          <p:cNvSpPr>
            <a:spLocks noGrp="1"/>
          </p:cNvSpPr>
          <p:nvPr/>
        </p:nvSpPr>
        <p:spPr>
          <a:xfrm>
            <a:off x="7086600" y="40481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integration tests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F293CC-0BBE-426F-B876-5C68D14F727D}"/>
              </a:ext>
            </a:extLst>
          </p:cNvPr>
          <p:cNvSpPr>
            <a:spLocks noGrp="1"/>
          </p:cNvSpPr>
          <p:nvPr/>
        </p:nvSpPr>
        <p:spPr>
          <a:xfrm>
            <a:off x="8924925" y="3924300"/>
            <a:ext cx="15811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A51B41-6AB5-4535-A4B2-895B9C2437BA}"/>
              </a:ext>
            </a:extLst>
          </p:cNvPr>
          <p:cNvSpPr>
            <a:spLocks noGrp="1"/>
          </p:cNvSpPr>
          <p:nvPr/>
        </p:nvSpPr>
        <p:spPr>
          <a:xfrm>
            <a:off x="9039225" y="40481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resume and issue playback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E72D5E-3381-464E-AAF9-97DDEA42D1F1}"/>
              </a:ext>
            </a:extLst>
          </p:cNvPr>
          <p:cNvSpPr>
            <a:spLocks noGrp="1"/>
          </p:cNvSpPr>
          <p:nvPr/>
        </p:nvSpPr>
        <p:spPr>
          <a:xfrm>
            <a:off x="762000" y="48196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rPr>
              <a:t>Phase 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BE13B8-BA9B-4919-B881-F86C82E3F8B3}"/>
              </a:ext>
            </a:extLst>
          </p:cNvPr>
          <p:cNvSpPr>
            <a:spLocks noGrp="1"/>
          </p:cNvSpPr>
          <p:nvPr/>
        </p:nvSpPr>
        <p:spPr>
          <a:xfrm>
            <a:off x="2362200" y="4972050"/>
            <a:ext cx="457200" cy="28575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8E030F6-71C9-42BF-AE05-A3CB60BA737C}"/>
              </a:ext>
            </a:extLst>
          </p:cNvPr>
          <p:cNvSpPr>
            <a:spLocks noGrp="1"/>
          </p:cNvSpPr>
          <p:nvPr/>
        </p:nvSpPr>
        <p:spPr>
          <a:xfrm>
            <a:off x="3067050" y="4648200"/>
            <a:ext cx="1581150" cy="514350"/>
          </a:xfrm>
          <a:prstGeom prst="rect">
            <a:avLst/>
          </a:prstGeom>
          <a:solidFill>
            <a:srgbClr val="ECE6DC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B222DB-BC83-4D89-8063-3518E3FFCDF2}"/>
              </a:ext>
            </a:extLst>
          </p:cNvPr>
          <p:cNvSpPr>
            <a:spLocks noGrp="1"/>
          </p:cNvSpPr>
          <p:nvPr/>
        </p:nvSpPr>
        <p:spPr>
          <a:xfrm>
            <a:off x="3181350" y="47720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accept / revise / reject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FCAB921-32CD-4FA4-AD89-C3CE9B75C014}"/>
              </a:ext>
            </a:extLst>
          </p:cNvPr>
          <p:cNvSpPr>
            <a:spLocks noGrp="1"/>
          </p:cNvSpPr>
          <p:nvPr/>
        </p:nvSpPr>
        <p:spPr>
          <a:xfrm>
            <a:off x="5019675" y="4648200"/>
            <a:ext cx="1581150" cy="514350"/>
          </a:xfrm>
          <a:prstGeom prst="rect">
            <a:avLst/>
          </a:prstGeom>
          <a:solidFill>
            <a:srgbClr val="ECE6DC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A62E31-3D40-41AF-8A65-64AED3F17788}"/>
              </a:ext>
            </a:extLst>
          </p:cNvPr>
          <p:cNvSpPr>
            <a:spLocks noGrp="1"/>
          </p:cNvSpPr>
          <p:nvPr/>
        </p:nvSpPr>
        <p:spPr>
          <a:xfrm>
            <a:off x="5133975" y="47720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 evidence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F50ADA-C274-4F22-85FD-1808B0CDDEA2}"/>
              </a:ext>
            </a:extLst>
          </p:cNvPr>
          <p:cNvSpPr>
            <a:spLocks noGrp="1"/>
          </p:cNvSpPr>
          <p:nvPr/>
        </p:nvSpPr>
        <p:spPr>
          <a:xfrm>
            <a:off x="6972300" y="4648200"/>
            <a:ext cx="1581150" cy="514350"/>
          </a:xfrm>
          <a:prstGeom prst="rect">
            <a:avLst/>
          </a:prstGeom>
          <a:solidFill>
            <a:srgbClr val="ECE6DC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67E079C-33A3-4E39-B3D6-B5A19AD6D7E9}"/>
              </a:ext>
            </a:extLst>
          </p:cNvPr>
          <p:cNvSpPr>
            <a:spLocks noGrp="1"/>
          </p:cNvSpPr>
          <p:nvPr/>
        </p:nvSpPr>
        <p:spPr>
          <a:xfrm>
            <a:off x="7086600" y="47720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system V-model tests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F397A1-C8E9-4FD9-AA31-F9AB223311C5}"/>
              </a:ext>
            </a:extLst>
          </p:cNvPr>
          <p:cNvSpPr>
            <a:spLocks noGrp="1"/>
          </p:cNvSpPr>
          <p:nvPr/>
        </p:nvSpPr>
        <p:spPr>
          <a:xfrm>
            <a:off x="8924925" y="4648200"/>
            <a:ext cx="1581150" cy="514350"/>
          </a:xfrm>
          <a:prstGeom prst="rect">
            <a:avLst/>
          </a:prstGeom>
          <a:solidFill>
            <a:srgbClr val="ECE6DC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A21395-D759-4404-BA0A-26D1C419AE0B}"/>
              </a:ext>
            </a:extLst>
          </p:cNvPr>
          <p:cNvSpPr>
            <a:spLocks noGrp="1"/>
          </p:cNvSpPr>
          <p:nvPr/>
        </p:nvSpPr>
        <p:spPr>
          <a:xfrm>
            <a:off x="9039225" y="4772025"/>
            <a:ext cx="1352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6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skill safety audit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2D72FDB-8F92-49D6-95B3-20D804B9A463}"/>
              </a:ext>
            </a:extLst>
          </p:cNvPr>
          <p:cNvSpPr>
            <a:spLocks noGrp="1"/>
          </p:cNvSpPr>
          <p:nvPr/>
        </p:nvSpPr>
        <p:spPr>
          <a:xfrm>
            <a:off x="1619250" y="5715000"/>
            <a:ext cx="895350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92808AD-4CF1-4949-B3C4-87548CA1AF11}"/>
              </a:ext>
            </a:extLst>
          </p:cNvPr>
          <p:cNvSpPr>
            <a:spLocks noGrp="1"/>
          </p:cNvSpPr>
          <p:nvPr/>
        </p:nvSpPr>
        <p:spPr>
          <a:xfrm>
            <a:off x="1619250" y="5715000"/>
            <a:ext cx="66675" cy="64770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C4D99A3-F0AD-4096-A221-CC36CD04F491}"/>
              </a:ext>
            </a:extLst>
          </p:cNvPr>
          <p:cNvSpPr>
            <a:spLocks noGrp="1"/>
          </p:cNvSpPr>
          <p:nvPr/>
        </p:nvSpPr>
        <p:spPr>
          <a:xfrm>
            <a:off x="1790700" y="5819775"/>
            <a:ext cx="866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Invariant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E8E26B-4466-4DB6-ACEB-43C69BA47D5F}"/>
              </a:ext>
            </a:extLst>
          </p:cNvPr>
          <p:cNvSpPr>
            <a:spLocks noGrp="1"/>
          </p:cNvSpPr>
          <p:nvPr/>
        </p:nvSpPr>
        <p:spPr>
          <a:xfrm>
            <a:off x="1790700" y="6029325"/>
            <a:ext cx="866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Testing agents and thought playback are not separate final tasks. They operate continuously as the main workflow progresses.</a:t>
            </a:r>
          </a:p>
        </p:txBody>
      </p:sp>
    </p:spTree>
    <p:extLst>
      <p:ext uri="{BB962C8B-B14F-4D97-AF65-F5344CB8AC3E}">
        <p14:creationId xmlns:p14="http://schemas.microsoft.com/office/powerpoint/2010/main" val="162543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63CFAFCD-2025-4005-AD0F-0DA0AD3FEA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97CF10-D938-450E-A18E-F89A22C33B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8FDE3BA-46D9-40C8-B9AF-F9E0A26FF674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E938472-DE87-45BF-84BA-1DBA68430807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OWNERSHIP INTERFACE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1B5CA7-FEC2-416A-8C8B-8B40A92C5E5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Your responsibility is the research-report-to-validated-POC pipeline.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906DCE-A193-436F-BB07-70CCA9560213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The handoff from your colleague is the research report. Your pipeline extracts possible solutions, builds a POC, integrates the flow, and validates the whole system.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FC3074-D77E-47C5-AA08-278D1BB58F5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17FE1-BC3F-4CF6-84B7-48B4A897550F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0EE2EA-E3BB-4EDA-ACA6-38D6ABD5C50D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3143250" cy="2857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401E72-3271-4905-BBA5-CEBA851D34A7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1238250" cy="2476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3BE0E2-8B56-4D49-B55F-03425DD402C5}"/>
              </a:ext>
            </a:extLst>
          </p:cNvPr>
          <p:cNvSpPr>
            <a:spLocks noGrp="1"/>
          </p:cNvSpPr>
          <p:nvPr/>
        </p:nvSpPr>
        <p:spPr>
          <a:xfrm>
            <a:off x="1085850" y="242887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colleague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9C2D73-11FB-4E1C-A21C-0DE1CA6A43B4}"/>
              </a:ext>
            </a:extLst>
          </p:cNvPr>
          <p:cNvSpPr>
            <a:spLocks noGrp="1"/>
          </p:cNvSpPr>
          <p:nvPr/>
        </p:nvSpPr>
        <p:spPr>
          <a:xfrm>
            <a:off x="990600" y="2838450"/>
            <a:ext cx="2343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Topic to research report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E6BF49-586B-437F-BCF9-BFCB68E2A361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B334FE-341C-4353-B34D-B5DE39F9BDB3}"/>
              </a:ext>
            </a:extLst>
          </p:cNvPr>
          <p:cNvSpPr>
            <a:spLocks noGrp="1"/>
          </p:cNvSpPr>
          <p:nvPr/>
        </p:nvSpPr>
        <p:spPr>
          <a:xfrm>
            <a:off x="1152525" y="3476625"/>
            <a:ext cx="21812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topic intake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1EBCBE-EC89-4D1D-B048-F1F3729A9FA4}"/>
              </a:ext>
            </a:extLst>
          </p:cNvPr>
          <p:cNvSpPr>
            <a:spLocks noGrp="1"/>
          </p:cNvSpPr>
          <p:nvPr/>
        </p:nvSpPr>
        <p:spPr>
          <a:xfrm>
            <a:off x="990600" y="3800475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F49F32-2349-4F85-ACA1-BCFE542BB1F2}"/>
              </a:ext>
            </a:extLst>
          </p:cNvPr>
          <p:cNvSpPr>
            <a:spLocks noGrp="1"/>
          </p:cNvSpPr>
          <p:nvPr/>
        </p:nvSpPr>
        <p:spPr>
          <a:xfrm>
            <a:off x="1152525" y="3733800"/>
            <a:ext cx="21812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technology scan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29E5F2-D722-4030-ABF4-598EEF196C45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F972EB-D607-401F-AF6C-04C2A25C85BA}"/>
              </a:ext>
            </a:extLst>
          </p:cNvPr>
          <p:cNvSpPr>
            <a:spLocks noGrp="1"/>
          </p:cNvSpPr>
          <p:nvPr/>
        </p:nvSpPr>
        <p:spPr>
          <a:xfrm>
            <a:off x="1152525" y="3990975"/>
            <a:ext cx="21812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research report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69370C-A1F6-4482-AFB4-03C11F8C2A9C}"/>
              </a:ext>
            </a:extLst>
          </p:cNvPr>
          <p:cNvSpPr>
            <a:spLocks noGrp="1"/>
          </p:cNvSpPr>
          <p:nvPr/>
        </p:nvSpPr>
        <p:spPr>
          <a:xfrm>
            <a:off x="990600" y="4314825"/>
            <a:ext cx="57150" cy="5715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68A744-08B0-441E-B97A-A2A0D051D21D}"/>
              </a:ext>
            </a:extLst>
          </p:cNvPr>
          <p:cNvSpPr>
            <a:spLocks noGrp="1"/>
          </p:cNvSpPr>
          <p:nvPr/>
        </p:nvSpPr>
        <p:spPr>
          <a:xfrm>
            <a:off x="1152525" y="4248150"/>
            <a:ext cx="21812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citations and claims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FD51F0-46AA-45D9-8F58-7FD3C2F5201C}"/>
              </a:ext>
            </a:extLst>
          </p:cNvPr>
          <p:cNvSpPr>
            <a:spLocks noGrp="1"/>
          </p:cNvSpPr>
          <p:nvPr/>
        </p:nvSpPr>
        <p:spPr>
          <a:xfrm>
            <a:off x="4533900" y="2076450"/>
            <a:ext cx="3124200" cy="2857500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FE7A09-B63E-4653-9123-0066DCA3D288}"/>
              </a:ext>
            </a:extLst>
          </p:cNvPr>
          <p:cNvSpPr>
            <a:spLocks noGrp="1"/>
          </p:cNvSpPr>
          <p:nvPr/>
        </p:nvSpPr>
        <p:spPr>
          <a:xfrm>
            <a:off x="4819650" y="238125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research_report.md contract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3B55FE-8E73-4862-8C97-EFF033ECCA5A}"/>
              </a:ext>
            </a:extLst>
          </p:cNvPr>
          <p:cNvSpPr>
            <a:spLocks noGrp="1"/>
          </p:cNvSpPr>
          <p:nvPr/>
        </p:nvSpPr>
        <p:spPr>
          <a:xfrm>
            <a:off x="5010150" y="2876550"/>
            <a:ext cx="952500" cy="342900"/>
          </a:xfrm>
          <a:prstGeom prst="rect">
            <a:avLst/>
          </a:prstGeom>
          <a:solidFill>
            <a:srgbClr val="1B7A78"/>
          </a:solidFill>
          <a:ln w="9525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076435-7FC0-4069-B094-26085A4E5900}"/>
              </a:ext>
            </a:extLst>
          </p:cNvPr>
          <p:cNvSpPr>
            <a:spLocks noGrp="1"/>
          </p:cNvSpPr>
          <p:nvPr/>
        </p:nvSpPr>
        <p:spPr>
          <a:xfrm>
            <a:off x="5067300" y="2971800"/>
            <a:ext cx="838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583782-C0A9-41A5-8D57-C393C34B8A6F}"/>
              </a:ext>
            </a:extLst>
          </p:cNvPr>
          <p:cNvSpPr>
            <a:spLocks noGrp="1"/>
          </p:cNvSpPr>
          <p:nvPr/>
        </p:nvSpPr>
        <p:spPr>
          <a:xfrm>
            <a:off x="6191250" y="2876550"/>
            <a:ext cx="952500" cy="342900"/>
          </a:xfrm>
          <a:prstGeom prst="rect">
            <a:avLst/>
          </a:prstGeom>
          <a:solidFill>
            <a:srgbClr val="405D8A"/>
          </a:solidFill>
          <a:ln w="9525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2DA8E4-838E-4A18-BBC3-B1CF4C45BAE7}"/>
              </a:ext>
            </a:extLst>
          </p:cNvPr>
          <p:cNvSpPr>
            <a:spLocks noGrp="1"/>
          </p:cNvSpPr>
          <p:nvPr/>
        </p:nvSpPr>
        <p:spPr>
          <a:xfrm>
            <a:off x="6248400" y="2971800"/>
            <a:ext cx="838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solutions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4700AA-2F7F-4984-B1B4-A64C594DB286}"/>
              </a:ext>
            </a:extLst>
          </p:cNvPr>
          <p:cNvSpPr>
            <a:spLocks noGrp="1"/>
          </p:cNvSpPr>
          <p:nvPr/>
        </p:nvSpPr>
        <p:spPr>
          <a:xfrm>
            <a:off x="5010150" y="3429000"/>
            <a:ext cx="952500" cy="342900"/>
          </a:xfrm>
          <a:prstGeom prst="rect">
            <a:avLst/>
          </a:prstGeom>
          <a:solidFill>
            <a:srgbClr val="6E527D"/>
          </a:solidFill>
          <a:ln w="9525">
            <a:solidFill>
              <a:srgbClr val="6E52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1029A8-CCEC-4C34-B33B-23115AF9330C}"/>
              </a:ext>
            </a:extLst>
          </p:cNvPr>
          <p:cNvSpPr>
            <a:spLocks noGrp="1"/>
          </p:cNvSpPr>
          <p:nvPr/>
        </p:nvSpPr>
        <p:spPr>
          <a:xfrm>
            <a:off x="5067300" y="3524250"/>
            <a:ext cx="838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675A1-7186-4CC8-8B48-949A60BEF64A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952500" cy="342900"/>
          </a:xfrm>
          <a:prstGeom prst="rect">
            <a:avLst/>
          </a:prstGeom>
          <a:solidFill>
            <a:srgbClr val="D96C4A"/>
          </a:solidFill>
          <a:ln w="9525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CCD688-8DE3-45EE-A7FC-B100A7224043}"/>
              </a:ext>
            </a:extLst>
          </p:cNvPr>
          <p:cNvSpPr>
            <a:spLocks noGrp="1"/>
          </p:cNvSpPr>
          <p:nvPr/>
        </p:nvSpPr>
        <p:spPr>
          <a:xfrm>
            <a:off x="6248400" y="3524250"/>
            <a:ext cx="838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assumptions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A223E4-0A55-484C-B435-1525CE902840}"/>
              </a:ext>
            </a:extLst>
          </p:cNvPr>
          <p:cNvSpPr>
            <a:spLocks noGrp="1"/>
          </p:cNvSpPr>
          <p:nvPr/>
        </p:nvSpPr>
        <p:spPr>
          <a:xfrm>
            <a:off x="5010150" y="3981450"/>
            <a:ext cx="952500" cy="342900"/>
          </a:xfrm>
          <a:prstGeom prst="rect">
            <a:avLst/>
          </a:prstGeom>
          <a:solidFill>
            <a:srgbClr val="1B7A78"/>
          </a:solidFill>
          <a:ln w="9525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0A0FD0-F9F7-411A-8B3F-A77F869567E5}"/>
              </a:ext>
            </a:extLst>
          </p:cNvPr>
          <p:cNvSpPr>
            <a:spLocks noGrp="1"/>
          </p:cNvSpPr>
          <p:nvPr/>
        </p:nvSpPr>
        <p:spPr>
          <a:xfrm>
            <a:off x="5067300" y="4076700"/>
            <a:ext cx="838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target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B55448-79AA-4A68-8F21-171FF3D0F6A9}"/>
              </a:ext>
            </a:extLst>
          </p:cNvPr>
          <p:cNvSpPr>
            <a:spLocks noGrp="1"/>
          </p:cNvSpPr>
          <p:nvPr/>
        </p:nvSpPr>
        <p:spPr>
          <a:xfrm>
            <a:off x="6191250" y="3981450"/>
            <a:ext cx="952500" cy="342900"/>
          </a:xfrm>
          <a:prstGeom prst="rect">
            <a:avLst/>
          </a:prstGeom>
          <a:solidFill>
            <a:srgbClr val="405D8A"/>
          </a:solidFill>
          <a:ln w="9525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BF62E3-003C-455B-BD02-941BB4678E77}"/>
              </a:ext>
            </a:extLst>
          </p:cNvPr>
          <p:cNvSpPr>
            <a:spLocks noGrp="1"/>
          </p:cNvSpPr>
          <p:nvPr/>
        </p:nvSpPr>
        <p:spPr>
          <a:xfrm>
            <a:off x="6248400" y="4076700"/>
            <a:ext cx="838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cited 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40BCBD-9050-4C18-9433-8E27469EDE96}"/>
              </a:ext>
            </a:extLst>
          </p:cNvPr>
          <p:cNvSpPr>
            <a:spLocks noGrp="1"/>
          </p:cNvSpPr>
          <p:nvPr/>
        </p:nvSpPr>
        <p:spPr>
          <a:xfrm>
            <a:off x="8324850" y="2076450"/>
            <a:ext cx="3143250" cy="2857500"/>
          </a:xfrm>
          <a:prstGeom prst="rect">
            <a:avLst/>
          </a:prstGeom>
          <a:solidFill>
            <a:srgbClr val="FFFFFF"/>
          </a:solidFill>
          <a:ln w="14288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7B6B1F-2B08-493A-A30B-BB836B575C0C}"/>
              </a:ext>
            </a:extLst>
          </p:cNvPr>
          <p:cNvSpPr>
            <a:spLocks noGrp="1"/>
          </p:cNvSpPr>
          <p:nvPr/>
        </p:nvSpPr>
        <p:spPr>
          <a:xfrm>
            <a:off x="8591550" y="2381250"/>
            <a:ext cx="1238250" cy="2476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240756-256F-449B-A9AD-F02FB45D530B}"/>
              </a:ext>
            </a:extLst>
          </p:cNvPr>
          <p:cNvSpPr>
            <a:spLocks noGrp="1"/>
          </p:cNvSpPr>
          <p:nvPr/>
        </p:nvSpPr>
        <p:spPr>
          <a:xfrm>
            <a:off x="8686800" y="242887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9B5A80-9409-4ADB-AB55-76531B9F3C0D}"/>
              </a:ext>
            </a:extLst>
          </p:cNvPr>
          <p:cNvSpPr>
            <a:spLocks noGrp="1"/>
          </p:cNvSpPr>
          <p:nvPr/>
        </p:nvSpPr>
        <p:spPr>
          <a:xfrm>
            <a:off x="8591550" y="2838450"/>
            <a:ext cx="2343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Report to validated POC pipeline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C1456E3-AC67-4CEF-9465-CD1D07ABC9EE}"/>
              </a:ext>
            </a:extLst>
          </p:cNvPr>
          <p:cNvSpPr>
            <a:spLocks noGrp="1"/>
          </p:cNvSpPr>
          <p:nvPr/>
        </p:nvSpPr>
        <p:spPr>
          <a:xfrm>
            <a:off x="8591550" y="3543300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974FE2-097B-46EF-AFDD-A4D3332C83AD}"/>
              </a:ext>
            </a:extLst>
          </p:cNvPr>
          <p:cNvSpPr>
            <a:spLocks noGrp="1"/>
          </p:cNvSpPr>
          <p:nvPr/>
        </p:nvSpPr>
        <p:spPr>
          <a:xfrm>
            <a:off x="8753475" y="3476625"/>
            <a:ext cx="21812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candidate extraction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C38052-66BD-46BB-AF83-D1194F4EB03C}"/>
              </a:ext>
            </a:extLst>
          </p:cNvPr>
          <p:cNvSpPr>
            <a:spLocks noGrp="1"/>
          </p:cNvSpPr>
          <p:nvPr/>
        </p:nvSpPr>
        <p:spPr>
          <a:xfrm>
            <a:off x="8591550" y="38004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4059AD6-8094-4825-8A83-191887342114}"/>
              </a:ext>
            </a:extLst>
          </p:cNvPr>
          <p:cNvSpPr>
            <a:spLocks noGrp="1"/>
          </p:cNvSpPr>
          <p:nvPr/>
        </p:nvSpPr>
        <p:spPr>
          <a:xfrm>
            <a:off x="8753475" y="3733800"/>
            <a:ext cx="21812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 build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AB0065-A49B-4D05-867A-027A7F5B7DDD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761F6C-B861-47B8-B1C5-2F67FCBB6620}"/>
              </a:ext>
            </a:extLst>
          </p:cNvPr>
          <p:cNvSpPr>
            <a:spLocks noGrp="1"/>
          </p:cNvSpPr>
          <p:nvPr/>
        </p:nvSpPr>
        <p:spPr>
          <a:xfrm>
            <a:off x="8753475" y="3990975"/>
            <a:ext cx="21812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 integration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FE2DC3D-6A82-4B75-B457-40F1DEE33376}"/>
              </a:ext>
            </a:extLst>
          </p:cNvPr>
          <p:cNvSpPr>
            <a:spLocks noGrp="1"/>
          </p:cNvSpPr>
          <p:nvPr/>
        </p:nvSpPr>
        <p:spPr>
          <a:xfrm>
            <a:off x="8591550" y="431482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D38777-7F0D-4D8F-A94B-79590B066F5E}"/>
              </a:ext>
            </a:extLst>
          </p:cNvPr>
          <p:cNvSpPr>
            <a:spLocks noGrp="1"/>
          </p:cNvSpPr>
          <p:nvPr/>
        </p:nvSpPr>
        <p:spPr>
          <a:xfrm>
            <a:off x="8753475" y="4248150"/>
            <a:ext cx="218122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system V-model + safety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E6FE7E-2254-438E-B4C0-097EE3C75CEE}"/>
              </a:ext>
            </a:extLst>
          </p:cNvPr>
          <p:cNvSpPr>
            <a:spLocks noGrp="1"/>
          </p:cNvSpPr>
          <p:nvPr/>
        </p:nvSpPr>
        <p:spPr>
          <a:xfrm>
            <a:off x="3867150" y="3429000"/>
            <a:ext cx="666750" cy="38100"/>
          </a:xfrm>
          <a:prstGeom prst="rect">
            <a:avLst/>
          </a:prstGeom>
          <a:solidFill>
            <a:srgbClr val="1B7A78"/>
          </a:solidFill>
          <a:ln w="0">
            <a:solidFill>
              <a:srgbClr val="1B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6E4E3B1-6452-4B35-AB8E-57780AC5BCBD}"/>
              </a:ext>
            </a:extLst>
          </p:cNvPr>
          <p:cNvSpPr>
            <a:spLocks noGrp="1"/>
          </p:cNvSpPr>
          <p:nvPr/>
        </p:nvSpPr>
        <p:spPr>
          <a:xfrm>
            <a:off x="7658100" y="3429000"/>
            <a:ext cx="666750" cy="3810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23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8BA9E3E5-D198-4B82-A0A5-DD3CE91734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B85AA9-BB10-428F-9172-D9AE0FC13C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202A"/>
          </a:solidFill>
          <a:ln w="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E9CEE04-6E1A-4BCB-A857-F3FD30F5084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42900" cy="28575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81917696-D20D-4996-8CA9-807E651C053C}"/>
              </a:ext>
            </a:extLst>
          </p:cNvPr>
          <p:cNvSpPr>
            <a:spLocks noGrp="1"/>
          </p:cNvSpPr>
          <p:nvPr/>
        </p:nvSpPr>
        <p:spPr>
          <a:xfrm>
            <a:off x="1047750" y="400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7E"/>
                </a:solidFill>
                <a:latin typeface="Aptos"/>
                <a:ea typeface="Aptos"/>
                <a:cs typeface="Aptos"/>
              </a:rPr>
              <a:t>FINAL STATE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197879-D16E-40C7-8788-3FB61F6F3A4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9334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Success means the pipeline can prove both POC correctness and system reliability.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56C0FD-40EF-4373-A622-0094210F30BE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Phase 2 validates the generated POC. Phase 4 validates the full extraction-to-build pipeline, including skill safety and human-readable agent playback.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CC466C-36C2-4B62-9C68-92F39E1C3AD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AI4Research 4-phase build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5DD319-8100-4CA6-B1B1-A721A0E60B1E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17E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D56B23-F384-45F5-8B7F-603BEA2D834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524250" cy="3429000"/>
          </a:xfrm>
          <a:prstGeom prst="rect">
            <a:avLst/>
          </a:prstGeom>
          <a:solidFill>
            <a:srgbClr val="FFFFFF"/>
          </a:solidFill>
          <a:ln w="14288">
            <a:solidFill>
              <a:srgbClr val="40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C0F863-58C6-4D43-B16C-FB34084B46F2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05D8A"/>
                </a:solidFill>
                <a:latin typeface="Aptos Display"/>
                <a:ea typeface="Aptos Display"/>
                <a:cs typeface="Aptos Display"/>
              </a:rPr>
              <a:t>Final run package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B6C6DB-DB3C-4E17-A79D-1B7626389A0D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F4B0A8-1148-423E-8C30-F5BD646EE8D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2954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paper_analysis.md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604CFE-BBFB-447B-8E07-8346AFA617A0}"/>
              </a:ext>
            </a:extLst>
          </p:cNvPr>
          <p:cNvSpPr>
            <a:spLocks noGrp="1"/>
          </p:cNvSpPr>
          <p:nvPr/>
        </p:nvSpPr>
        <p:spPr>
          <a:xfrm>
            <a:off x="2571750" y="2895600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4BEA91-C525-4150-96EE-CC706C52E4D3}"/>
              </a:ext>
            </a:extLst>
          </p:cNvPr>
          <p:cNvSpPr>
            <a:spLocks noGrp="1"/>
          </p:cNvSpPr>
          <p:nvPr/>
        </p:nvSpPr>
        <p:spPr>
          <a:xfrm>
            <a:off x="2686050" y="2971800"/>
            <a:ext cx="12954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solution_candidates.md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7E0B5E-A0B6-4B49-8288-73F290172F8E}"/>
              </a:ext>
            </a:extLst>
          </p:cNvPr>
          <p:cNvSpPr>
            <a:spLocks noGrp="1"/>
          </p:cNvSpPr>
          <p:nvPr/>
        </p:nvSpPr>
        <p:spPr>
          <a:xfrm>
            <a:off x="952500" y="33623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F96E6A-144E-42C8-B9E4-C943EA55AFF1}"/>
              </a:ext>
            </a:extLst>
          </p:cNvPr>
          <p:cNvSpPr>
            <a:spLocks noGrp="1"/>
          </p:cNvSpPr>
          <p:nvPr/>
        </p:nvSpPr>
        <p:spPr>
          <a:xfrm>
            <a:off x="1066800" y="3438525"/>
            <a:ext cx="12954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requirements.md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5948CD-A92A-49B4-AFEA-BB32E34BB5D2}"/>
              </a:ext>
            </a:extLst>
          </p:cNvPr>
          <p:cNvSpPr>
            <a:spLocks noGrp="1"/>
          </p:cNvSpPr>
          <p:nvPr/>
        </p:nvSpPr>
        <p:spPr>
          <a:xfrm>
            <a:off x="2571750" y="33623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2EB0A-43EA-4159-B8C1-3CC879B2D871}"/>
              </a:ext>
            </a:extLst>
          </p:cNvPr>
          <p:cNvSpPr>
            <a:spLocks noGrp="1"/>
          </p:cNvSpPr>
          <p:nvPr/>
        </p:nvSpPr>
        <p:spPr>
          <a:xfrm>
            <a:off x="2686050" y="3438525"/>
            <a:ext cx="12954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design.md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567687-DC4E-4C0B-B59E-B9A7E4C5A676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2E7B68-49C3-422D-82A9-11CE692913D5}"/>
              </a:ext>
            </a:extLst>
          </p:cNvPr>
          <p:cNvSpPr>
            <a:spLocks noGrp="1"/>
          </p:cNvSpPr>
          <p:nvPr/>
        </p:nvSpPr>
        <p:spPr>
          <a:xfrm>
            <a:off x="1066800" y="3905250"/>
            <a:ext cx="12954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poc_test_results.md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06797A-3B8D-4F02-AE95-1A8F1134763C}"/>
              </a:ext>
            </a:extLst>
          </p:cNvPr>
          <p:cNvSpPr>
            <a:spLocks noGrp="1"/>
          </p:cNvSpPr>
          <p:nvPr/>
        </p:nvSpPr>
        <p:spPr>
          <a:xfrm>
            <a:off x="2571750" y="3829050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DA033-5C43-4A27-B4E4-29B116B19F1E}"/>
              </a:ext>
            </a:extLst>
          </p:cNvPr>
          <p:cNvSpPr>
            <a:spLocks noGrp="1"/>
          </p:cNvSpPr>
          <p:nvPr/>
        </p:nvSpPr>
        <p:spPr>
          <a:xfrm>
            <a:off x="2686050" y="3905250"/>
            <a:ext cx="12954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rPr>
              <a:t>pipeline_v_model.md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E15683-8FA0-476C-818B-98BCF826E4B2}"/>
              </a:ext>
            </a:extLst>
          </p:cNvPr>
          <p:cNvSpPr>
            <a:spLocks noGrp="1"/>
          </p:cNvSpPr>
          <p:nvPr/>
        </p:nvSpPr>
        <p:spPr>
          <a:xfrm>
            <a:off x="952500" y="429577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87717E-8DF1-45F6-B503-4B66CDB657C9}"/>
              </a:ext>
            </a:extLst>
          </p:cNvPr>
          <p:cNvSpPr>
            <a:spLocks noGrp="1"/>
          </p:cNvSpPr>
          <p:nvPr/>
        </p:nvSpPr>
        <p:spPr>
          <a:xfrm>
            <a:off x="1066800" y="4371975"/>
            <a:ext cx="12954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rPr>
              <a:t>skill_audit_report.md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26BB3C-D6E5-4CF7-99EB-EAB4136AD8E7}"/>
              </a:ext>
            </a:extLst>
          </p:cNvPr>
          <p:cNvSpPr>
            <a:spLocks noGrp="1"/>
          </p:cNvSpPr>
          <p:nvPr/>
        </p:nvSpPr>
        <p:spPr>
          <a:xfrm>
            <a:off x="2571750" y="429577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B99E65-EB33-45BF-AF37-426090872C80}"/>
              </a:ext>
            </a:extLst>
          </p:cNvPr>
          <p:cNvSpPr>
            <a:spLocks noGrp="1"/>
          </p:cNvSpPr>
          <p:nvPr/>
        </p:nvSpPr>
        <p:spPr>
          <a:xfrm>
            <a:off x="2686050" y="4371975"/>
            <a:ext cx="12954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96C4A"/>
                </a:solidFill>
                <a:latin typeface="Aptos Mono"/>
                <a:ea typeface="Aptos Mono"/>
                <a:cs typeface="Aptos Mono"/>
              </a:rPr>
              <a:t>thought_playback.md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205DAB-542B-4998-B5E6-04FAF3288049}"/>
              </a:ext>
            </a:extLst>
          </p:cNvPr>
          <p:cNvSpPr>
            <a:spLocks noGrp="1"/>
          </p:cNvSpPr>
          <p:nvPr/>
        </p:nvSpPr>
        <p:spPr>
          <a:xfrm>
            <a:off x="4876800" y="2095500"/>
            <a:ext cx="2686050" cy="3429000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71CA66-1DC3-4D84-A84F-D2EA5626F27A}"/>
              </a:ext>
            </a:extLst>
          </p:cNvPr>
          <p:cNvSpPr>
            <a:spLocks noGrp="1"/>
          </p:cNvSpPr>
          <p:nvPr/>
        </p:nvSpPr>
        <p:spPr>
          <a:xfrm>
            <a:off x="5143500" y="2381250"/>
            <a:ext cx="2152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Decision gate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D9D62A-94D3-4F0A-966F-ABD55B949C5E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2000250" cy="457200"/>
          </a:xfrm>
          <a:prstGeom prst="rect">
            <a:avLst/>
          </a:prstGeom>
          <a:solidFill>
            <a:srgbClr val="4C8A5A"/>
          </a:solidFill>
          <a:ln w="9525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E6F701-2CBF-40D4-AC9C-F5E7B8C46A85}"/>
              </a:ext>
            </a:extLst>
          </p:cNvPr>
          <p:cNvSpPr>
            <a:spLocks noGrp="1"/>
          </p:cNvSpPr>
          <p:nvPr/>
        </p:nvSpPr>
        <p:spPr>
          <a:xfrm>
            <a:off x="5353050" y="3076575"/>
            <a:ext cx="1733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64FA66-16E2-4D9F-9C16-AA30C7DA0DCF}"/>
              </a:ext>
            </a:extLst>
          </p:cNvPr>
          <p:cNvSpPr>
            <a:spLocks noGrp="1"/>
          </p:cNvSpPr>
          <p:nvPr/>
        </p:nvSpPr>
        <p:spPr>
          <a:xfrm>
            <a:off x="5353050" y="3267075"/>
            <a:ext cx="1733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POC and pipeline evidence support the claim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8ABB0D-2991-472B-BBC2-56AD173CCC43}"/>
              </a:ext>
            </a:extLst>
          </p:cNvPr>
          <p:cNvSpPr>
            <a:spLocks noGrp="1"/>
          </p:cNvSpPr>
          <p:nvPr/>
        </p:nvSpPr>
        <p:spPr>
          <a:xfrm>
            <a:off x="5219700" y="3676650"/>
            <a:ext cx="2000250" cy="457200"/>
          </a:xfrm>
          <a:prstGeom prst="rect">
            <a:avLst/>
          </a:prstGeom>
          <a:solidFill>
            <a:srgbClr val="B68A2E"/>
          </a:solidFill>
          <a:ln w="9525">
            <a:solidFill>
              <a:srgbClr val="B6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808A20-2A7D-4D5C-8E28-CAA51E0312A3}"/>
              </a:ext>
            </a:extLst>
          </p:cNvPr>
          <p:cNvSpPr>
            <a:spLocks noGrp="1"/>
          </p:cNvSpPr>
          <p:nvPr/>
        </p:nvSpPr>
        <p:spPr>
          <a:xfrm>
            <a:off x="5353050" y="3743325"/>
            <a:ext cx="1733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01167D-D0F3-4AB3-B88F-91C7493CABB0}"/>
              </a:ext>
            </a:extLst>
          </p:cNvPr>
          <p:cNvSpPr>
            <a:spLocks noGrp="1"/>
          </p:cNvSpPr>
          <p:nvPr/>
        </p:nvSpPr>
        <p:spPr>
          <a:xfrm>
            <a:off x="5353050" y="3933825"/>
            <a:ext cx="1733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candidate, POC, handoff, or safety layer needs another loop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22E7A4-13FA-4BA2-892D-43732109E24F}"/>
              </a:ext>
            </a:extLst>
          </p:cNvPr>
          <p:cNvSpPr>
            <a:spLocks noGrp="1"/>
          </p:cNvSpPr>
          <p:nvPr/>
        </p:nvSpPr>
        <p:spPr>
          <a:xfrm>
            <a:off x="5219700" y="4343400"/>
            <a:ext cx="2000250" cy="457200"/>
          </a:xfrm>
          <a:prstGeom prst="rect">
            <a:avLst/>
          </a:prstGeom>
          <a:solidFill>
            <a:srgbClr val="B84B4B"/>
          </a:solidFill>
          <a:ln w="9525">
            <a:solidFill>
              <a:srgbClr val="B84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32DC08-4969-41A0-9F67-5E0D482D755E}"/>
              </a:ext>
            </a:extLst>
          </p:cNvPr>
          <p:cNvSpPr>
            <a:spLocks noGrp="1"/>
          </p:cNvSpPr>
          <p:nvPr/>
        </p:nvSpPr>
        <p:spPr>
          <a:xfrm>
            <a:off x="5353050" y="4410075"/>
            <a:ext cx="1733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5E0852-48C2-4425-951A-9CFB3EBE08E0}"/>
              </a:ext>
            </a:extLst>
          </p:cNvPr>
          <p:cNvSpPr>
            <a:spLocks noGrp="1"/>
          </p:cNvSpPr>
          <p:nvPr/>
        </p:nvSpPr>
        <p:spPr>
          <a:xfrm>
            <a:off x="5353050" y="4600575"/>
            <a:ext cx="1733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POC fails or pipeline is unreliable / unsafe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005DE-C8DD-4F87-80F8-06B74B5B1073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NORTH-STAR CHECK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FFCC1F-727F-4F2A-A4C6-A5C1700AA569}"/>
              </a:ext>
            </a:extLst>
          </p:cNvPr>
          <p:cNvSpPr>
            <a:spLocks noGrp="1"/>
          </p:cNvSpPr>
          <p:nvPr/>
        </p:nvSpPr>
        <p:spPr>
          <a:xfrm>
            <a:off x="8286750" y="2333625"/>
            <a:ext cx="2095500" cy="190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85DD65-C985-459A-A81D-A248D812FB9C}"/>
              </a:ext>
            </a:extLst>
          </p:cNvPr>
          <p:cNvSpPr>
            <a:spLocks noGrp="1"/>
          </p:cNvSpPr>
          <p:nvPr/>
        </p:nvSpPr>
        <p:spPr>
          <a:xfrm>
            <a:off x="8286750" y="25431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4579D3-507D-4708-BF1A-F7B1AB3BF577}"/>
              </a:ext>
            </a:extLst>
          </p:cNvPr>
          <p:cNvSpPr>
            <a:spLocks noGrp="1"/>
          </p:cNvSpPr>
          <p:nvPr/>
        </p:nvSpPr>
        <p:spPr>
          <a:xfrm>
            <a:off x="8448675" y="2476500"/>
            <a:ext cx="2790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solutions were extracted accurately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260B31-41B9-47B4-B61D-EC3B9215589E}"/>
              </a:ext>
            </a:extLst>
          </p:cNvPr>
          <p:cNvSpPr>
            <a:spLocks noGrp="1"/>
          </p:cNvSpPr>
          <p:nvPr/>
        </p:nvSpPr>
        <p:spPr>
          <a:xfrm>
            <a:off x="8286750" y="286702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3DD7EF-4F18-42CD-99B4-9504F0DBDD74}"/>
              </a:ext>
            </a:extLst>
          </p:cNvPr>
          <p:cNvSpPr>
            <a:spLocks noGrp="1"/>
          </p:cNvSpPr>
          <p:nvPr/>
        </p:nvSpPr>
        <p:spPr>
          <a:xfrm>
            <a:off x="8448675" y="2800350"/>
            <a:ext cx="2790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POC-level V-model tests passed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F1D12A3-C63A-4B81-9E66-617283C72B28}"/>
              </a:ext>
            </a:extLst>
          </p:cNvPr>
          <p:cNvSpPr>
            <a:spLocks noGrp="1"/>
          </p:cNvSpPr>
          <p:nvPr/>
        </p:nvSpPr>
        <p:spPr>
          <a:xfrm>
            <a:off x="8286750" y="31908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772C9B-D0E2-49E1-B50F-63BD114C9F2D}"/>
              </a:ext>
            </a:extLst>
          </p:cNvPr>
          <p:cNvSpPr>
            <a:spLocks noGrp="1"/>
          </p:cNvSpPr>
          <p:nvPr/>
        </p:nvSpPr>
        <p:spPr>
          <a:xfrm>
            <a:off x="8448675" y="3124200"/>
            <a:ext cx="2790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pipeline-level V-model tests passed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64EF86-2D10-40AE-8F80-F5F4DE7DBE60}"/>
              </a:ext>
            </a:extLst>
          </p:cNvPr>
          <p:cNvSpPr>
            <a:spLocks noGrp="1"/>
          </p:cNvSpPr>
          <p:nvPr/>
        </p:nvSpPr>
        <p:spPr>
          <a:xfrm>
            <a:off x="8286750" y="351472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16061C0-47C2-4F2E-90B8-18A4B7BD8BF3}"/>
              </a:ext>
            </a:extLst>
          </p:cNvPr>
          <p:cNvSpPr>
            <a:spLocks noGrp="1"/>
          </p:cNvSpPr>
          <p:nvPr/>
        </p:nvSpPr>
        <p:spPr>
          <a:xfrm>
            <a:off x="8448675" y="3448050"/>
            <a:ext cx="2790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thought playback was visible at every phase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0607E1-5AF7-49AF-B364-24FB746406FB}"/>
              </a:ext>
            </a:extLst>
          </p:cNvPr>
          <p:cNvSpPr>
            <a:spLocks noGrp="1"/>
          </p:cNvSpPr>
          <p:nvPr/>
        </p:nvSpPr>
        <p:spPr>
          <a:xfrm>
            <a:off x="8286750" y="3838575"/>
            <a:ext cx="57150" cy="57150"/>
          </a:xfrm>
          <a:prstGeom prst="rect">
            <a:avLst/>
          </a:prstGeom>
          <a:solidFill>
            <a:srgbClr val="D96C4A"/>
          </a:solidFill>
          <a:ln w="0">
            <a:solidFill>
              <a:srgbClr val="D96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836AE04-7BD0-4A16-A71E-4E32E7C73504}"/>
              </a:ext>
            </a:extLst>
          </p:cNvPr>
          <p:cNvSpPr>
            <a:spLocks noGrp="1"/>
          </p:cNvSpPr>
          <p:nvPr/>
        </p:nvSpPr>
        <p:spPr>
          <a:xfrm>
            <a:off x="8448675" y="3771900"/>
            <a:ext cx="2790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skill safety checker blocked unsafe usage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A6798D1-D941-4EC0-84F3-48E3B98B250B}"/>
              </a:ext>
            </a:extLst>
          </p:cNvPr>
          <p:cNvSpPr>
            <a:spLocks noGrp="1"/>
          </p:cNvSpPr>
          <p:nvPr/>
        </p:nvSpPr>
        <p:spPr>
          <a:xfrm>
            <a:off x="8286750" y="5143500"/>
            <a:ext cx="2762250" cy="647700"/>
          </a:xfrm>
          <a:prstGeom prst="rect">
            <a:avLst/>
          </a:prstGeom>
          <a:solidFill>
            <a:srgbClr val="ECE6DC"/>
          </a:solidFill>
          <a:ln w="9525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566EB3-9745-4712-91D8-58DD2082D759}"/>
              </a:ext>
            </a:extLst>
          </p:cNvPr>
          <p:cNvSpPr>
            <a:spLocks noGrp="1"/>
          </p:cNvSpPr>
          <p:nvPr/>
        </p:nvSpPr>
        <p:spPr>
          <a:xfrm>
            <a:off x="8286750" y="5143500"/>
            <a:ext cx="66675" cy="647700"/>
          </a:xfrm>
          <a:prstGeom prst="rect">
            <a:avLst/>
          </a:prstGeom>
          <a:solidFill>
            <a:srgbClr val="4C8A5A"/>
          </a:solidFill>
          <a:ln w="0">
            <a:solidFill>
              <a:srgbClr val="4C8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ED5ACB0-36DA-43CE-AEC5-856AB8FE068A}"/>
              </a:ext>
            </a:extLst>
          </p:cNvPr>
          <p:cNvSpPr>
            <a:spLocks noGrp="1"/>
          </p:cNvSpPr>
          <p:nvPr/>
        </p:nvSpPr>
        <p:spPr>
          <a:xfrm>
            <a:off x="8458200" y="5248275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C8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C8A5A"/>
                </a:solidFill>
                <a:latin typeface="Aptos"/>
                <a:ea typeface="Aptos"/>
                <a:cs typeface="Aptos"/>
              </a:rPr>
              <a:t>Mature outcome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A90337-7EE5-4517-A78B-FF8A18462DAD}"/>
              </a:ext>
            </a:extLst>
          </p:cNvPr>
          <p:cNvSpPr>
            <a:spLocks noGrp="1"/>
          </p:cNvSpPr>
          <p:nvPr/>
        </p:nvSpPr>
        <p:spPr>
          <a:xfrm>
            <a:off x="8458200" y="5457825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validated POC plus a tested, inspectable, and safer pipeline</a:t>
            </a:r>
          </a:p>
        </p:txBody>
      </p:sp>
    </p:spTree>
    <p:extLst>
      <p:ext uri="{BB962C8B-B14F-4D97-AF65-F5344CB8AC3E}">
        <p14:creationId xmlns:p14="http://schemas.microsoft.com/office/powerpoint/2010/main" val="1040272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</Words>
  <Application>Microsoft Macintosh PowerPoint</Application>
  <DocSecurity>0</DocSecurity>
  <PresentationFormat>Widescreen</PresentationFormat>
  <Paragraphs>275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James Yuan</cp:lastModifiedBy>
  <cp:revision>1</cp:revision>
  <dcterms:created xsi:type="dcterms:W3CDTF">2026-05-27T18:50:09Z</dcterms:created>
  <dcterms:modified xsi:type="dcterms:W3CDTF">2026-05-29T03:20:12Z</dcterms:modified>
</cp:coreProperties>
</file>